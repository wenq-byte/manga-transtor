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开场先给定位：这是一个本地运行的漫画图片翻译 Web 应用，输入漫画图片，输出已排版的中文译图。右侧占位图在汇报前替换为真实首页或原图/译图对照，姓名、学号、班级、指导教师也在此页补全。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从三个真实痛点讲起：竖排密集文字、普通 OCR 不管擦除排版、逐句翻译丢上下文。然后指向对照链：过去人工五步，现在上传后自动完成。右侧原图局部用于让难点可视化。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这一页主动划边界：左列才是本次验收范围；中列说明真实 OCR 模型、LaMa、翻译 API 取决于本机安装、权重、密钥和网络；右列是规划，不要当成已实现。被追问进度时回到这三栏回答。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按七个真实操作顺序讲一遍任务流，强调每步都有可观察结果：任务卡出现、逐张进度、单张完成即可预览、失败可单独重试。右下角放真实界面截图或录屏截帧，讲解时指向对应入口。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自上而下讲五层职责，重点停在第三层：任务管理器是单 worker，加流水线锁。批量只是编排多个子任务，模型推理仍然串行——这是稳定性优先的取舍，不要讲成并发加速。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这一页是技术核心，按 detect 到 render 七步讲输入输出。重点解释两个设计：原图保留边界证据、清理图判断连通；翻译单位是气泡整块。不要逐字念，指着流程图讲输入、处理、输出。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先讲识别结果包含什么：文本、置信度、多边形、方向，后续擦除与排版都依赖它们。再讲引擎路由：MIT48 主识别，manga-ocr 只救完全读不出的空行，PaddleOCR/CV 只是回退路径，不是并行。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用四格对照讲修复不是涂白：掩膜来自文字多边形、Otsu 笔画与注音扩展。强调清理图分组加原图边界否决如何防止跨气泡合并，最后指回退链：可靠掩膜、安全扩展框、紧致框、跳过。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翻译讲三件事：气泡整块一次翻译保留换行与句序；术语库整词替换保持一致；失败走回退链。右侧质量告警表逐项可指着说；AI 润色强调复用已有 DeepSeek 服务、失败保留原译文，不是新部署的模型。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左边讲排版策略：横排均衡换行，竖排按气泡分列并保持原文顺序；覆盖率不足回退矩形裁剪。右边讲人工兜底：拖拽、改字体、局部擦除可撤销，形成自动加微调闭环，指向编辑器截图讲。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强调批量是编排不是并发：校验、建子任务、逐张串行、汇总进度、生成 ZIP。安全边界要主动说：结果路径只从服务端任务记录解析。下方状态表说明部分成功也可下载、可单独重试。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这页讲信息架构：侧边栏翻译任务与词库同级，主区域是对话式任务流。用截图拼版指认四个细节：任务状态、图片预览、文本编辑、词库管理。设计目的：让用户始终知道下一步能做什么。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答辩关键页。分工先说清：人工定约束、查事实、跑验证、做取舍；AI 读代码、找问题、草拟方案、局部实现。四类证据选一两个展开讲，最后主动说 AI 能力边界四条，把验证主动权留在人手里。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只讲真实证据：后端 171 项测试通过、前端构建成功，并注明验证范围以当前代码和环境为准。主动声明没有统一数据集下的准确率与耗时，不做虚构比较。然后按七步演示顺序走一遍，时间不足就播放录屏。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三句话收束：闭环已通、难点在哪、下一步做什么。两栏对照可验收能力与扩展方向。致谢后进入提问，若老师要看现场，直接打开系统演示或播放录屏。</a:t>
            </a:r>
          </a:p>
          <a:p>
            <a:r>
              <a:t>素材替换清单：01 首页或原译对照｜02 复杂文字局部｜04 上传/进度/预览截图｜05 架构图或目录截图｜06 流程或日志截图｜07 OCR 检测框｜08 四格对照｜09 词库/质量告警｜10 编辑器界面｜11 批量任务界面｜12 界面拼版｜13 AI 协作记录｜14 测试结果+原译对照｜15 代表性译图或二维码。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6035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240">
                <a:solidFill>
                  <a:srgbClr val="002FA7"/>
                </a:solidFill>
                <a:latin typeface="Consolas"/>
                <a:ea typeface="Consolas"/>
              </a:rPr>
              <a:t>初步验收汇报 · PRELIMINARY ACCEPTANCE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63093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8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AI Manga</a:t>
            </a:r>
          </a:p>
          <a:p>
            <a:pPr algn="l">
              <a:lnSpc>
                <a:spcPct val="102000"/>
              </a:lnSpc>
            </a:pPr>
            <a:r>
              <a:rPr sz="48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Translator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6217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0A0A0A"/>
                </a:solidFill>
                <a:latin typeface="Microsoft YaHei"/>
                <a:ea typeface="Microsoft YaHei"/>
              </a:rPr>
              <a:t>漫画多语言智能翻译系统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6035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737373"/>
                </a:solidFill>
                <a:latin typeface="Microsoft YaHei"/>
                <a:ea typeface="Microsoft YaHei"/>
              </a:rPr>
              <a:t>面向漫画图片的 OCR、翻译、擦除修复与中文排版一体化工具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4892040"/>
            <a:ext cx="5760720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029200"/>
            <a:ext cx="6217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37373"/>
                </a:solidFill>
                <a:latin typeface="Consolas"/>
                <a:ea typeface="Consolas"/>
              </a:rPr>
              <a:t>汇报人 </a:t>
            </a:r>
            <a:r>
              <a:rPr sz="1050" b="0" i="0">
                <a:solidFill>
                  <a:srgbClr val="0A0A0A"/>
                </a:solidFill>
                <a:latin typeface="Microsoft YaHei"/>
                <a:ea typeface="Microsoft YaHei"/>
              </a:rPr>
              <a:t>【姓名】</a:t>
            </a:r>
            <a:r>
              <a:rPr sz="1050" b="0" i="0">
                <a:solidFill>
                  <a:srgbClr val="737373"/>
                </a:solidFill>
                <a:latin typeface="Consolas"/>
                <a:ea typeface="Consolas"/>
              </a:rPr>
              <a:t>    学号 </a:t>
            </a:r>
            <a:r>
              <a:rPr sz="1050" b="0" i="0">
                <a:solidFill>
                  <a:srgbClr val="0A0A0A"/>
                </a:solidFill>
                <a:latin typeface="Microsoft YaHei"/>
                <a:ea typeface="Microsoft YaHei"/>
              </a:rPr>
              <a:t>【学号】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737373"/>
                </a:solidFill>
                <a:latin typeface="Consolas"/>
                <a:ea typeface="Consolas"/>
              </a:rPr>
              <a:t>班级   </a:t>
            </a:r>
            <a:r>
              <a:rPr sz="1050" b="0" i="0">
                <a:solidFill>
                  <a:srgbClr val="0A0A0A"/>
                </a:solidFill>
                <a:latin typeface="Microsoft YaHei"/>
                <a:ea typeface="Microsoft YaHei"/>
              </a:rPr>
              <a:t>【学习方向或班级】</a:t>
            </a:r>
            <a:r>
              <a:rPr sz="1050" b="0" i="0">
                <a:solidFill>
                  <a:srgbClr val="737373"/>
                </a:solidFill>
                <a:latin typeface="Consolas"/>
                <a:ea typeface="Consolas"/>
              </a:rPr>
              <a:t>    指导教师 </a:t>
            </a:r>
            <a:r>
              <a:rPr sz="1050" b="0" i="0">
                <a:solidFill>
                  <a:srgbClr val="0A0A0A"/>
                </a:solidFill>
                <a:latin typeface="Microsoft YaHei"/>
                <a:ea typeface="Microsoft YaHei"/>
              </a:rPr>
              <a:t>【教师姓名】</a:t>
            </a:r>
          </a:p>
          <a:p>
            <a:pPr algn="l"/>
            <a:r>
              <a:rPr sz="1050" b="0" i="0">
                <a:solidFill>
                  <a:srgbClr val="737373"/>
                </a:solidFill>
                <a:latin typeface="Consolas"/>
                <a:ea typeface="Consolas"/>
              </a:rPr>
              <a:t>日期   </a:t>
            </a:r>
            <a:r>
              <a:rPr sz="1050" b="0" i="0">
                <a:solidFill>
                  <a:srgbClr val="0A0A0A"/>
                </a:solidFill>
                <a:latin typeface="Microsoft YaHei"/>
                <a:ea typeface="Microsoft YaHei"/>
              </a:rPr>
              <a:t>【汇报日期】</a:t>
            </a:r>
            <a:r>
              <a:rPr sz="1050" b="0" i="0">
                <a:solidFill>
                  <a:srgbClr val="737373"/>
                </a:solidFill>
                <a:latin typeface="Consolas"/>
                <a:ea typeface="Consolas"/>
              </a:rPr>
              <a:t>    项目地址 </a:t>
            </a:r>
            <a:r>
              <a:rPr sz="1050" b="0" i="0">
                <a:solidFill>
                  <a:srgbClr val="0A0A0A"/>
                </a:solidFill>
                <a:latin typeface="Microsoft YaHei"/>
                <a:ea typeface="Microsoft YaHei"/>
              </a:rPr>
              <a:t>【如有则填写】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7452360" y="1371600"/>
            <a:ext cx="4160520" cy="2340864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[图片占位-01-项目主界面或原译对照-16:9]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图片说明：放入实际项目首页或一组真实漫画原图/中文译图，用于建立项目第一印象。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3977639"/>
            <a:ext cx="4160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Microsoft YaHei"/>
                <a:ea typeface="Microsoft YaHei"/>
              </a:rPr>
              <a:t>本地 Web 应用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737373"/>
                </a:solidFill>
                <a:latin typeface="Microsoft YaHei"/>
                <a:ea typeface="Microsoft YaHei"/>
              </a:rPr>
              <a:t>React/Vite 前端 + FastAPI 后端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00" b="0" i="0">
                <a:solidFill>
                  <a:srgbClr val="737373"/>
                </a:solidFill>
                <a:latin typeface="Microsoft YaHei"/>
                <a:ea typeface="Microsoft YaHei"/>
              </a:rPr>
              <a:t>SQLite 与本地文件存储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37373"/>
                </a:solidFill>
                <a:latin typeface="Microsoft YaHei"/>
                <a:ea typeface="Microsoft YaHei"/>
              </a:rPr>
              <a:t>图片输入 · 日语/英语 → 中文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6419088"/>
            <a:ext cx="1082009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AI MANGA TRANSLATOR · COVER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问题与价值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02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问题与价值 · 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WHY ·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为什么要做：问题与价值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漫画翻译的难点不在“识字”，而在擦除、排版与气泡上下文的完整闭环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377440" cy="1078992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痛点 01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A0A0A"/>
                </a:solidFill>
                <a:latin typeface="Microsoft YaHei"/>
                <a:ea typeface="Microsoft YaHei"/>
              </a:rPr>
              <a:t>文字形态复杂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竖排、弯曲、密集排列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文字叠在复杂背景上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90672" y="2011680"/>
            <a:ext cx="2377440" cy="1078992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痛点 02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A0A0A"/>
                </a:solidFill>
                <a:latin typeface="Microsoft YaHei"/>
                <a:ea typeface="Microsoft YaHei"/>
              </a:rPr>
              <a:t>普通 OCR 只管识字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只输出文本，不擦除原文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不修复背景、不重排译文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32703" y="2011680"/>
            <a:ext cx="2377440" cy="1078992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痛点 03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A0A0A"/>
                </a:solidFill>
                <a:latin typeface="Microsoft YaHei"/>
                <a:ea typeface="Microsoft YaHei"/>
              </a:rPr>
              <a:t>逐句翻译丢上下文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孤立句子丢失气泡语境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专有名词前后不一致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67328"/>
            <a:ext cx="7498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737373"/>
                </a:solidFill>
                <a:latin typeface="Consolas"/>
                <a:ea typeface="Consolas"/>
              </a:rPr>
              <a:t>原始处理链（人工）</a:t>
            </a:r>
          </a:p>
        </p:txBody>
      </p:sp>
      <p:sp>
        <p:nvSpPr>
          <p:cNvPr id="14" name="Pentagon 13"/>
          <p:cNvSpPr/>
          <p:nvPr/>
        </p:nvSpPr>
        <p:spPr>
          <a:xfrm>
            <a:off x="548640" y="4041648"/>
            <a:ext cx="1441094" cy="475488"/>
          </a:xfrm>
          <a:prstGeom prst="homePlate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01  截图</a:t>
            </a:r>
          </a:p>
        </p:txBody>
      </p:sp>
      <p:sp>
        <p:nvSpPr>
          <p:cNvPr id="15" name="Chevron 14"/>
          <p:cNvSpPr/>
          <p:nvPr/>
        </p:nvSpPr>
        <p:spPr>
          <a:xfrm>
            <a:off x="2062886" y="4041648"/>
            <a:ext cx="1441094" cy="475488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02  识字</a:t>
            </a:r>
          </a:p>
        </p:txBody>
      </p:sp>
      <p:sp>
        <p:nvSpPr>
          <p:cNvPr id="16" name="Chevron 15"/>
          <p:cNvSpPr/>
          <p:nvPr/>
        </p:nvSpPr>
        <p:spPr>
          <a:xfrm>
            <a:off x="3577132" y="4041648"/>
            <a:ext cx="1441094" cy="475488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03  翻译</a:t>
            </a:r>
          </a:p>
        </p:txBody>
      </p:sp>
      <p:sp>
        <p:nvSpPr>
          <p:cNvPr id="17" name="Chevron 16"/>
          <p:cNvSpPr/>
          <p:nvPr/>
        </p:nvSpPr>
        <p:spPr>
          <a:xfrm>
            <a:off x="5091379" y="4041648"/>
            <a:ext cx="1441094" cy="475488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04  修图</a:t>
            </a:r>
          </a:p>
        </p:txBody>
      </p:sp>
      <p:sp>
        <p:nvSpPr>
          <p:cNvPr id="18" name="Chevron 17"/>
          <p:cNvSpPr/>
          <p:nvPr/>
        </p:nvSpPr>
        <p:spPr>
          <a:xfrm>
            <a:off x="6605625" y="4041648"/>
            <a:ext cx="1441094" cy="475488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05  排版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681728"/>
            <a:ext cx="749807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002FA7"/>
                </a:solidFill>
                <a:latin typeface="Consolas"/>
                <a:ea typeface="Consolas"/>
              </a:rPr>
              <a:t>本项目处理链（自动）</a:t>
            </a:r>
          </a:p>
        </p:txBody>
      </p:sp>
      <p:sp>
        <p:nvSpPr>
          <p:cNvPr id="20" name="Pentagon 19"/>
          <p:cNvSpPr/>
          <p:nvPr/>
        </p:nvSpPr>
        <p:spPr>
          <a:xfrm>
            <a:off x="548640" y="4956048"/>
            <a:ext cx="1819655" cy="475488"/>
          </a:xfrm>
          <a:prstGeom prst="homePlate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01  上传图片</a:t>
            </a:r>
          </a:p>
        </p:txBody>
      </p:sp>
      <p:sp>
        <p:nvSpPr>
          <p:cNvPr id="21" name="Chevron 20"/>
          <p:cNvSpPr/>
          <p:nvPr/>
        </p:nvSpPr>
        <p:spPr>
          <a:xfrm>
            <a:off x="2441448" y="4956048"/>
            <a:ext cx="1819655" cy="475488"/>
          </a:xfrm>
          <a:prstGeom prst="chevron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02  自动任务流</a:t>
            </a:r>
          </a:p>
        </p:txBody>
      </p:sp>
      <p:sp>
        <p:nvSpPr>
          <p:cNvPr id="22" name="Chevron 21"/>
          <p:cNvSpPr/>
          <p:nvPr/>
        </p:nvSpPr>
        <p:spPr>
          <a:xfrm>
            <a:off x="4334255" y="4956048"/>
            <a:ext cx="1819655" cy="475488"/>
          </a:xfrm>
          <a:prstGeom prst="chevron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03  预览编辑</a:t>
            </a:r>
          </a:p>
        </p:txBody>
      </p:sp>
      <p:sp>
        <p:nvSpPr>
          <p:cNvPr id="23" name="Chevron 22"/>
          <p:cNvSpPr/>
          <p:nvPr/>
        </p:nvSpPr>
        <p:spPr>
          <a:xfrm>
            <a:off x="6227063" y="4956048"/>
            <a:ext cx="1819655" cy="475488"/>
          </a:xfrm>
          <a:prstGeom prst="chevron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04  下载结果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011680"/>
            <a:ext cx="3090672" cy="20574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[图片占位-02-复杂漫画文字局部-3:2]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图片说明：放入真实日文或英文漫画原图局部，标出竖排文字、气泡边界和复杂背景。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4297680"/>
            <a:ext cx="31089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标注建议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竖排文字列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气泡边界轮廓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复杂背景上的文字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范围与边界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03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范围与边界 · 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SCOPE ·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做什么：需求范围与实现边界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本次验收只针对“当前已实现”列；依赖环境与后续规划单独标明，不混入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515258" cy="4572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30552"/>
            <a:ext cx="33323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当前已实现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3515258" cy="29260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图片 / 文件夹输入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日语、英语 → 中文重点翻译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任务进度与结果预览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单张重试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单张 / 批量 ZIP 下载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专有名词库管理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文本框编辑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局部擦除与撤销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218" y="2057400"/>
            <a:ext cx="3515258" cy="4572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7946" y="2130552"/>
            <a:ext cx="33323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依赖环境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8218" y="2514600"/>
            <a:ext cx="3515258" cy="29260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真实 OCR 模型：取决于本地安装与模型权重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LaMa 修复：需额外配置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外部翻译 API：取决于密钥与网络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核心 Demo 模式在较少依赖下可运行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2057400"/>
            <a:ext cx="3515258" cy="457200"/>
          </a:xfrm>
          <a:prstGeom prst="rect">
            <a:avLst/>
          </a:prstGeom>
          <a:solidFill>
            <a:srgbClr val="7373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7524" y="2130552"/>
            <a:ext cx="33323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后续规划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7796" y="2514600"/>
            <a:ext cx="3515258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73152" tIns="109728" bIns="36576"/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历史翻译记录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章节级管理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EPUB / CBZ / PDF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团队协作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· 云端 GPU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37373"/>
                </a:solidFill>
                <a:latin typeface="Consolas"/>
                <a:ea typeface="Consolas"/>
              </a:rPr>
              <a:t>边界声明：规划列内容不计入本次验收；依赖列能力是否可用以现场环境为准。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用户任务流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04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用户任务流 · 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USER FLOW ·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用户怎么用：一次完整任务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从上传到下载是一条任务流，每一步都有可观察结果</a:t>
            </a:r>
          </a:p>
        </p:txBody>
      </p:sp>
      <p:sp>
        <p:nvSpPr>
          <p:cNvPr id="10" name="Pentagon 9"/>
          <p:cNvSpPr/>
          <p:nvPr/>
        </p:nvSpPr>
        <p:spPr>
          <a:xfrm>
            <a:off x="548640" y="2011680"/>
            <a:ext cx="1530052" cy="566928"/>
          </a:xfrm>
          <a:prstGeom prst="homePlate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onsolas"/>
                <a:ea typeface="Consolas"/>
              </a:rPr>
              <a:t>01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上传/粘贴图片或文件夹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16397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任务卡出现在侧边栏</a:t>
            </a:r>
          </a:p>
        </p:txBody>
      </p:sp>
      <p:sp>
        <p:nvSpPr>
          <p:cNvPr id="12" name="Chevron 11"/>
          <p:cNvSpPr/>
          <p:nvPr/>
        </p:nvSpPr>
        <p:spPr>
          <a:xfrm>
            <a:off x="2142700" y="2011680"/>
            <a:ext cx="1530052" cy="566928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737373"/>
                </a:solidFill>
                <a:latin typeface="Consolas"/>
                <a:ea typeface="Consolas"/>
              </a:rPr>
              <a:t>02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选择语言与翻译设置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2700" y="2697480"/>
            <a:ext cx="16397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源/目标语言即时生效</a:t>
            </a:r>
          </a:p>
        </p:txBody>
      </p:sp>
      <p:sp>
        <p:nvSpPr>
          <p:cNvPr id="14" name="Chevron 13"/>
          <p:cNvSpPr/>
          <p:nvPr/>
        </p:nvSpPr>
        <p:spPr>
          <a:xfrm>
            <a:off x="3736760" y="2011680"/>
            <a:ext cx="1530052" cy="566928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737373"/>
                </a:solidFill>
                <a:latin typeface="Consolas"/>
                <a:ea typeface="Consolas"/>
              </a:rPr>
              <a:t>03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提交任务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6760" y="2697480"/>
            <a:ext cx="16397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后端校验并创建任务</a:t>
            </a:r>
          </a:p>
        </p:txBody>
      </p:sp>
      <p:sp>
        <p:nvSpPr>
          <p:cNvPr id="16" name="Chevron 15"/>
          <p:cNvSpPr/>
          <p:nvPr/>
        </p:nvSpPr>
        <p:spPr>
          <a:xfrm>
            <a:off x="5330821" y="2011680"/>
            <a:ext cx="1530052" cy="566928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737373"/>
                </a:solidFill>
                <a:latin typeface="Consolas"/>
                <a:ea typeface="Consolas"/>
              </a:rPr>
              <a:t>04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查看每张图进度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821" y="2697480"/>
            <a:ext cx="16397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进度条逐张推进</a:t>
            </a:r>
          </a:p>
        </p:txBody>
      </p:sp>
      <p:sp>
        <p:nvSpPr>
          <p:cNvPr id="18" name="Chevron 17"/>
          <p:cNvSpPr/>
          <p:nvPr/>
        </p:nvSpPr>
        <p:spPr>
          <a:xfrm>
            <a:off x="6924881" y="2011680"/>
            <a:ext cx="1530052" cy="566928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737373"/>
                </a:solidFill>
                <a:latin typeface="Consolas"/>
                <a:ea typeface="Consolas"/>
              </a:rPr>
              <a:t>05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查看完成预览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881" y="2697480"/>
            <a:ext cx="16397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单张完成立即可预览</a:t>
            </a:r>
          </a:p>
        </p:txBody>
      </p:sp>
      <p:sp>
        <p:nvSpPr>
          <p:cNvPr id="20" name="Chevron 19"/>
          <p:cNvSpPr/>
          <p:nvPr/>
        </p:nvSpPr>
        <p:spPr>
          <a:xfrm>
            <a:off x="8518942" y="2011680"/>
            <a:ext cx="1530052" cy="566928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737373"/>
                </a:solidFill>
                <a:latin typeface="Consolas"/>
                <a:ea typeface="Consolas"/>
              </a:rPr>
              <a:t>06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编辑或重新翻译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8942" y="2697480"/>
            <a:ext cx="16397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失败子任务单独重试</a:t>
            </a:r>
          </a:p>
        </p:txBody>
      </p:sp>
      <p:sp>
        <p:nvSpPr>
          <p:cNvPr id="22" name="Chevron 21"/>
          <p:cNvSpPr/>
          <p:nvPr/>
        </p:nvSpPr>
        <p:spPr>
          <a:xfrm>
            <a:off x="10113002" y="2011680"/>
            <a:ext cx="1530052" cy="566928"/>
          </a:xfrm>
          <a:prstGeom prst="chevron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850" b="1" i="0">
                <a:solidFill>
                  <a:srgbClr val="FFFFFF"/>
                </a:solidFill>
                <a:latin typeface="Consolas"/>
                <a:ea typeface="Consolas"/>
              </a:rPr>
              <a:t>07</a:t>
            </a:r>
          </a:p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下载结果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13002" y="2697480"/>
            <a:ext cx="16397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单张下载或批量 ZIP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76732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640" y="4023360"/>
            <a:ext cx="5029200" cy="214884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可观察结果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A0A0A"/>
                </a:solidFill>
                <a:latin typeface="Microsoft YaHei"/>
                <a:ea typeface="Microsoft YaHei"/>
              </a:rPr>
              <a:t>任务流形态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主区域为接近对话式的任务流界面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每张图片是独立子任务，互不影响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失败子任务可单独重新翻译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3D3D3D"/>
                </a:solidFill>
                <a:latin typeface="Microsoft YaHei"/>
                <a:ea typeface="Microsoft YaHei"/>
              </a:rPr>
              <a:t>单张下载与批量 ZIP 下载并存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023360"/>
            <a:ext cx="5513832" cy="2185416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[图片占位-04-任务流界面录屏截图-16:9]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图片说明：放入上传、任务进度、结果预览中的 2—3 张真实界面截图。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总体架构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05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总体架构 · 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ARCHITECTURE ·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系统怎么组成：总体架构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五层结构自上而下；批量只是编排，模型推理始终串行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7315200" cy="713232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  <a:ea typeface="Consolas"/>
              </a:rPr>
              <a:t>L1  </a:t>
            </a:r>
            <a:r>
              <a:rPr sz="1200" b="1" i="0">
                <a:solidFill>
                  <a:srgbClr val="0A0A0A"/>
                </a:solidFill>
                <a:latin typeface="Microsoft YaHei"/>
                <a:ea typeface="Microsoft YaHei"/>
              </a:rPr>
              <a:t>React/Vite 前端交互层</a:t>
            </a: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    任务创建、进度展示、结果预览与编辑交互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88336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37373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62072"/>
            <a:ext cx="7315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  <a:ea typeface="Consolas"/>
              </a:rPr>
              <a:t>L2  </a:t>
            </a:r>
            <a:r>
              <a:rPr sz="1200" b="1" i="0">
                <a:solidFill>
                  <a:srgbClr val="0A0A0A"/>
                </a:solidFill>
                <a:latin typeface="Microsoft YaHei"/>
                <a:ea typeface="Microsoft YaHei"/>
              </a:rPr>
              <a:t>FastAPI API 层</a:t>
            </a: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    请求校验、任务状态与下载接口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38728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37373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712464"/>
            <a:ext cx="7315200" cy="713232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000" b="1" i="0">
                <a:solidFill>
                  <a:srgbClr val="8FA8E8"/>
                </a:solidFill>
                <a:latin typeface="Consolas"/>
                <a:ea typeface="Consolas"/>
              </a:rPr>
              <a:t>L3  </a:t>
            </a: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TranslationTaskManager 任务层</a:t>
            </a:r>
            <a:r>
              <a:rPr sz="950" b="0" i="0">
                <a:solidFill>
                  <a:srgbClr val="C9C9C7"/>
                </a:solidFill>
                <a:latin typeface="Microsoft YaHei"/>
                <a:ea typeface="Microsoft YaHei"/>
              </a:rPr>
              <a:t>    单 worker 调度，流水线锁保护推理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89120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37373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62856"/>
            <a:ext cx="7315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  <a:ea typeface="Consolas"/>
              </a:rPr>
              <a:t>L4  </a:t>
            </a:r>
            <a:r>
              <a:rPr sz="1200" b="1" i="0">
                <a:solidFill>
                  <a:srgbClr val="0A0A0A"/>
                </a:solidFill>
                <a:latin typeface="Microsoft YaHei"/>
                <a:ea typeface="Microsoft YaHei"/>
              </a:rPr>
              <a:t>Pipeline 推理层</a:t>
            </a: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    检测→OCR→修复→分组→翻译→检查→渲染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239512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37373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413248"/>
            <a:ext cx="7315200" cy="713232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73152" tIns="36576" bIns="36576"/>
          <a:lstStyle/>
          <a:p>
            <a:pPr algn="l"/>
            <a:r>
              <a:rPr sz="1000" b="1" i="0">
                <a:solidFill>
                  <a:srgbClr val="002FA7"/>
                </a:solidFill>
                <a:latin typeface="Consolas"/>
                <a:ea typeface="Consolas"/>
              </a:rPr>
              <a:t>L5  </a:t>
            </a:r>
            <a:r>
              <a:rPr sz="1200" b="1" i="0">
                <a:solidFill>
                  <a:srgbClr val="0A0A0A"/>
                </a:solidFill>
                <a:latin typeface="Microsoft YaHei"/>
                <a:ea typeface="Microsoft YaHei"/>
              </a:rPr>
              <a:t>SQLite / 本地文件存储层</a:t>
            </a: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    任务元数据与结果路径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011680"/>
            <a:ext cx="3410712" cy="1810512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C9C9C7"/>
                </a:solidFill>
                <a:latin typeface="Consolas"/>
                <a:ea typeface="Consolas"/>
              </a:rPr>
              <a:t>关键约束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</a:rPr>
              <a:t>串行与批量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</a:rPr>
              <a:t>批量任务 = 编排多个子任务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</a:rPr>
              <a:t>模型推理 = 单 worker 串行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000" b="0" i="0">
                <a:solidFill>
                  <a:srgbClr val="FFFFFF"/>
                </a:solidFill>
                <a:latin typeface="Microsoft YaHei"/>
                <a:ea typeface="Microsoft YaHei"/>
              </a:rPr>
              <a:t>流水线锁做双重保护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950208"/>
            <a:ext cx="341071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737373"/>
                </a:solidFill>
                <a:latin typeface="Microsoft YaHei"/>
                <a:ea typeface="Microsoft YaHei"/>
              </a:rPr>
              <a:t>实线 = 数据流（自上而下）</a:t>
            </a:r>
          </a:p>
          <a:p>
            <a:pPr algn="l"/>
            <a:r>
              <a:rPr sz="900" b="0" i="0">
                <a:solidFill>
                  <a:srgbClr val="737373"/>
                </a:solidFill>
                <a:latin typeface="Microsoft YaHei"/>
                <a:ea typeface="Microsoft YaHei"/>
              </a:rPr>
              <a:t>虚线 = 配置 / 引擎回退关系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4709160"/>
            <a:ext cx="3410712" cy="1536192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[图片占位-05-架构图或代码结构-16:9]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图片说明：优先放实际架构图或后端/前端目录截图，证明模块不是概念拼接。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核心流水线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06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核心流水线 · 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PIPELINE ·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核心流程：一张图如何变成译图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先修复背景，再按气泡分组整块翻译，最后受控渲染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1506539" cy="13716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82296" bIns="36576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2FA7"/>
                </a:solidFill>
                <a:latin typeface="Consolas"/>
                <a:ea typeface="Consolas"/>
              </a:rPr>
              <a:t>01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检测文字区域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737373"/>
                </a:solidFill>
                <a:latin typeface="Consolas"/>
                <a:ea typeface="Consolas"/>
              </a:rPr>
              <a:t>detect</a:t>
            </a:r>
          </a:p>
          <a:p>
            <a:pPr algn="ctr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Microsoft YaHei"/>
                <a:ea typeface="Microsoft YaHei"/>
              </a:rPr>
              <a:t>入：原图 / 出：文字框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6619" y="2057400"/>
            <a:ext cx="1506539" cy="13716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82296" bIns="36576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2FA7"/>
                </a:solidFill>
                <a:latin typeface="Consolas"/>
                <a:ea typeface="Consolas"/>
              </a:rPr>
              <a:t>02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识别文本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737373"/>
                </a:solidFill>
                <a:latin typeface="Consolas"/>
                <a:ea typeface="Consolas"/>
              </a:rPr>
              <a:t>OCR</a:t>
            </a:r>
          </a:p>
          <a:p>
            <a:pPr algn="ctr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Microsoft YaHei"/>
                <a:ea typeface="Microsoft YaHei"/>
              </a:rPr>
              <a:t>入：文字区域 / 出：文本+置信度+方向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4598" y="2057400"/>
            <a:ext cx="1506539" cy="13716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82296" bIns="36576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2FA7"/>
                </a:solidFill>
                <a:latin typeface="Consolas"/>
                <a:ea typeface="Consolas"/>
              </a:rPr>
              <a:t>03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擦除修复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737373"/>
                </a:solidFill>
                <a:latin typeface="Consolas"/>
                <a:ea typeface="Consolas"/>
              </a:rPr>
              <a:t>inpaint</a:t>
            </a:r>
          </a:p>
          <a:p>
            <a:pPr algn="ctr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Microsoft YaHei"/>
                <a:ea typeface="Microsoft YaHei"/>
              </a:rPr>
              <a:t>入：掩膜 / 出：干净背景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2577" y="2057400"/>
            <a:ext cx="1506539" cy="13716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82296" bIns="36576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2FA7"/>
                </a:solidFill>
                <a:latin typeface="Consolas"/>
                <a:ea typeface="Consolas"/>
              </a:rPr>
              <a:t>04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气泡分组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737373"/>
                </a:solidFill>
                <a:latin typeface="Consolas"/>
                <a:ea typeface="Consolas"/>
              </a:rPr>
              <a:t>bubble grouping</a:t>
            </a:r>
          </a:p>
          <a:p>
            <a:pPr algn="ctr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Microsoft YaHei"/>
                <a:ea typeface="Microsoft YaHei"/>
              </a:rPr>
              <a:t>入：清理图+原图 / 出：气泡组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0557" y="2057400"/>
            <a:ext cx="1506539" cy="13716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82296" bIns="36576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2FA7"/>
                </a:solidFill>
                <a:latin typeface="Consolas"/>
                <a:ea typeface="Consolas"/>
              </a:rPr>
              <a:t>05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整块翻译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737373"/>
                </a:solidFill>
                <a:latin typeface="Consolas"/>
                <a:ea typeface="Consolas"/>
              </a:rPr>
              <a:t>translate</a:t>
            </a:r>
          </a:p>
          <a:p>
            <a:pPr algn="ctr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Microsoft YaHei"/>
                <a:ea typeface="Microsoft YaHei"/>
              </a:rPr>
              <a:t>入：气泡文本 / 出：译文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38536" y="2057400"/>
            <a:ext cx="1506539" cy="13716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82296" bIns="36576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2FA7"/>
                </a:solidFill>
                <a:latin typeface="Consolas"/>
                <a:ea typeface="Consolas"/>
              </a:rPr>
              <a:t>06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质量检查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737373"/>
                </a:solidFill>
                <a:latin typeface="Consolas"/>
                <a:ea typeface="Consolas"/>
              </a:rPr>
              <a:t>quality</a:t>
            </a:r>
          </a:p>
          <a:p>
            <a:pPr algn="ctr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Microsoft YaHei"/>
                <a:ea typeface="Microsoft YaHei"/>
              </a:rPr>
              <a:t>入：译文 / 出：告警标记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36515" y="2057400"/>
            <a:ext cx="1506539" cy="137160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82296" bIns="36576"/>
          <a:lstStyle/>
          <a:p>
            <a:pPr algn="ctr">
              <a:spcAft>
                <a:spcPts val="300"/>
              </a:spcAft>
            </a:pPr>
            <a:r>
              <a:rPr sz="900" b="1" i="0">
                <a:solidFill>
                  <a:srgbClr val="002FA7"/>
                </a:solidFill>
                <a:latin typeface="Consolas"/>
                <a:ea typeface="Consolas"/>
              </a:rPr>
              <a:t>07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排版渲染</a:t>
            </a:r>
          </a:p>
          <a:p>
            <a:pPr algn="ctr">
              <a:spcAft>
                <a:spcPts val="400"/>
              </a:spcAft>
            </a:pPr>
            <a:r>
              <a:rPr sz="800" b="0" i="0">
                <a:solidFill>
                  <a:srgbClr val="737373"/>
                </a:solidFill>
                <a:latin typeface="Consolas"/>
                <a:ea typeface="Consolas"/>
              </a:rPr>
              <a:t>render</a:t>
            </a:r>
          </a:p>
          <a:p>
            <a:pPr algn="ctr">
              <a:lnSpc>
                <a:spcPct val="120000"/>
              </a:lnSpc>
            </a:pPr>
            <a:r>
              <a:rPr sz="750" b="0" i="0">
                <a:solidFill>
                  <a:srgbClr val="737373"/>
                </a:solidFill>
                <a:latin typeface="Microsoft YaHei"/>
                <a:ea typeface="Microsoft YaHei"/>
              </a:rPr>
              <a:t>入：译文+掩膜 / 出：译图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2304288" cy="1417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判断 01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检测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850" b="0" i="0">
                <a:solidFill>
                  <a:srgbClr val="3D3D3D"/>
                </a:solidFill>
                <a:latin typeface="Microsoft YaHei"/>
                <a:ea typeface="Microsoft YaHei"/>
              </a:rPr>
              <a:t>原图保留边界证据，清理图只用于判断气泡内部连通性，两者分工不混。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99232" y="3703320"/>
            <a:ext cx="2304288" cy="1417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判断 02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翻译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850" b="0" i="0">
                <a:solidFill>
                  <a:srgbClr val="3D3D3D"/>
                </a:solidFill>
                <a:latin typeface="Microsoft YaHei"/>
                <a:ea typeface="Microsoft YaHei"/>
              </a:rPr>
              <a:t>翻译单位是气泡整块，不是孤立字符；提示词要求保留原文换行与句子顺序。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9824" y="3703320"/>
            <a:ext cx="2304288" cy="14173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判断 03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渲染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850" b="0" i="0">
                <a:solidFill>
                  <a:srgbClr val="3D3D3D"/>
                </a:solidFill>
                <a:latin typeface="Microsoft YaHei"/>
                <a:ea typeface="Microsoft YaHei"/>
              </a:rPr>
              <a:t>译文按气泡掩膜裁剪；几何不可靠时按安全扩展框、紧致框分级回退。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82127" y="3703320"/>
            <a:ext cx="3758184" cy="2112264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[图片占位-06-流水线实测流程图或调试截图-16:9]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图片说明：可放代码流程截图、任务日志截图或自行绘制的真实流程示意。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492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737373"/>
                </a:solidFill>
                <a:latin typeface="Microsoft YaHei"/>
                <a:ea typeface="Microsoft YaHei"/>
              </a:rPr>
              <a:t>为什么先修复再分组翻译：分组在干净背景上做连通性判断，避免原文笔画把相邻气泡错误连通；翻译按气泡整块进行，保住上下文。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OCR 与引擎回退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07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OCR 与引擎回退 · 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OCR ·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识别难点：OCR、方向与引擎回退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检测先定位、识别分主备；manga-ocr 只救空行，不覆盖已读对的结果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Microsoft YaHei"/>
                <a:ea typeface="Microsoft YaHei"/>
              </a:rPr>
              <a:t>识别结果长什么样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4023360" cy="74980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文字框 / 多边形</a:t>
            </a:r>
          </a:p>
          <a:p>
            <a:pPr algn="ctr"/>
            <a:r>
              <a:rPr sz="900" b="0" i="0">
                <a:solidFill>
                  <a:srgbClr val="737373"/>
                </a:solidFill>
                <a:latin typeface="Microsoft YaHei"/>
                <a:ea typeface="Microsoft YaHei"/>
              </a:rPr>
              <a:t>检测定位文字区域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072384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37373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73552"/>
            <a:ext cx="4023360" cy="74980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识别文本 + 置信度</a:t>
            </a:r>
          </a:p>
          <a:p>
            <a:pPr algn="ctr"/>
            <a:r>
              <a:rPr sz="900" b="0" i="0">
                <a:solidFill>
                  <a:srgbClr val="737373"/>
                </a:solidFill>
                <a:latin typeface="Microsoft YaHei"/>
                <a:ea typeface="Microsoft YaHei"/>
              </a:rPr>
              <a:t>逐区域识别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400507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37373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4023360" cy="74980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方向：横排 / 竖排</a:t>
            </a:r>
          </a:p>
          <a:p>
            <a:pPr algn="ctr"/>
            <a:r>
              <a:rPr sz="900" b="0" i="0">
                <a:solidFill>
                  <a:srgbClr val="737373"/>
                </a:solidFill>
                <a:latin typeface="Microsoft YaHei"/>
                <a:ea typeface="Microsoft YaHei"/>
              </a:rPr>
              <a:t>供擦除与排版使用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193791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输出字段：文本、置信度、文字框/多边形、方向；竖排区域旋转后再识别，坐标映射回原图。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3657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Microsoft YaHei"/>
                <a:ea typeface="Microsoft YaHei"/>
              </a:rPr>
              <a:t>引擎路由（可插拔，非并行）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0" y="2340864"/>
          <a:ext cx="6583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280160"/>
                <a:gridCol w="3383280"/>
              </a:tblGrid>
              <a:tr h="475488"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引擎</a:t>
                      </a:r>
                    </a:p>
                  </a:txBody>
                  <a:tcPr marL="73152" marT="27432" marB="2743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角色</a:t>
                      </a:r>
                    </a:p>
                  </a:txBody>
                  <a:tcPr marL="73152" marT="27432" marB="2743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73152" marT="27432" marB="27432">
                    <a:solidFill>
                      <a:srgbClr val="0A0A0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MIT / CTD 检测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默认路线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定位文字行并生成掩膜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MIT48 识别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主识别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输出文本、置信度与方向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manga-ocr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救空行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仅接管 MIT48 完全未读出的空行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PaddleOCR / CV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回退路径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可配置启用，不与默认路线并行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5029200" y="4937760"/>
            <a:ext cx="3657600" cy="13716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[图片占位-07-OCR原图与检测框/识别结果-3:2]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图片说明：放入真实检测框截图或 OCR 调试结果，突出竖排和风格化字体。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493776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横排 / 竖排差异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37373"/>
                </a:solidFill>
                <a:latin typeface="Microsoft YaHei"/>
                <a:ea typeface="Microsoft YaHei"/>
              </a:rPr>
              <a:t>竖排经旋转后识别；方向信息参与后续分列排版。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擦除修复与分组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08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擦除修复与分组 · 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INPAINT &amp; GROUPING ·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图像重建：擦除、修复与气泡分组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掩膜合并、分级修复与原图边界否决，共同降低误擦与跨气泡合并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4754880" cy="35661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[图片占位-08-原图掩膜修复分组四格对照-4:3]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图片说明：放入同一张真实图片的四阶段结果：原图 / 掩膜 / 修复图 / 分组结果，证明修复不是简单涂白。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150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37373"/>
                </a:solidFill>
                <a:latin typeface="Consolas"/>
                <a:ea typeface="Consolas"/>
              </a:rPr>
              <a:t>四格顺序：原图 → 掩膜 → 修复图 → 分组结果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011680"/>
            <a:ext cx="5943600" cy="9601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机制 01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掩膜由三部分合并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文字多边形整块填充 + Otsu 笔画候选 + 竖排注音扩展，覆盖抗锯齿边缘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081528"/>
            <a:ext cx="5943600" cy="9601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机制 02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默认 OpenCV 局部修复，可选 LaMa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LaMa 需额外配置，是否启用以本机环境为准；刊头/拟声词等非气泡文字保留，不进入擦除、翻译和渲染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4151376"/>
            <a:ext cx="5943600" cy="96012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机制 03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清理图分组 + 原图边界否决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在清理图上做气泡连通分组；两组文字之间若存在原图长轮廓则禁止合并，避免整页吞并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257800"/>
            <a:ext cx="5943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737373"/>
                </a:solidFill>
                <a:latin typeface="Consolas"/>
                <a:ea typeface="Consolas"/>
              </a:rPr>
              <a:t>气泡几何回退链</a:t>
            </a:r>
          </a:p>
        </p:txBody>
      </p:sp>
      <p:sp>
        <p:nvSpPr>
          <p:cNvPr id="16" name="Pentagon 15"/>
          <p:cNvSpPr/>
          <p:nvPr/>
        </p:nvSpPr>
        <p:spPr>
          <a:xfrm>
            <a:off x="5669280" y="5513832"/>
            <a:ext cx="1444752" cy="512064"/>
          </a:xfrm>
          <a:prstGeom prst="homePlate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可靠气泡掩膜</a:t>
            </a:r>
          </a:p>
        </p:txBody>
      </p:sp>
      <p:sp>
        <p:nvSpPr>
          <p:cNvPr id="17" name="Chevron 16"/>
          <p:cNvSpPr/>
          <p:nvPr/>
        </p:nvSpPr>
        <p:spPr>
          <a:xfrm>
            <a:off x="7168896" y="5513832"/>
            <a:ext cx="1444752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安全扩展框</a:t>
            </a:r>
          </a:p>
        </p:txBody>
      </p:sp>
      <p:sp>
        <p:nvSpPr>
          <p:cNvPr id="18" name="Chevron 17"/>
          <p:cNvSpPr/>
          <p:nvPr/>
        </p:nvSpPr>
        <p:spPr>
          <a:xfrm>
            <a:off x="8668512" y="5513832"/>
            <a:ext cx="1444752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紧致文本框</a:t>
            </a:r>
          </a:p>
        </p:txBody>
      </p:sp>
      <p:sp>
        <p:nvSpPr>
          <p:cNvPr id="19" name="Chevron 18"/>
          <p:cNvSpPr/>
          <p:nvPr/>
        </p:nvSpPr>
        <p:spPr>
          <a:xfrm>
            <a:off x="10168128" y="5513832"/>
            <a:ext cx="1444752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跳过该气泡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翻译与质量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09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翻译与质量 · 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TRANSLATION ·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翻译怎么更稳：上下文、回退与质量检查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以气泡整块翻译保留上下文，用回退链和质量检查兜底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657600" cy="60350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/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01  气泡内文本按行拼接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633472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37373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3657600" cy="60350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/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02  一次整块翻译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42900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37373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648456"/>
            <a:ext cx="3657600" cy="603504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/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03  术语库整词替换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224528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737373"/>
                </a:solidFill>
                <a:latin typeface="Microsoft YaHei"/>
                <a:ea typeface="Microsoft YaHei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43984"/>
            <a:ext cx="3657600" cy="603504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</a:rPr>
              <a:t>04  质量检查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12664"/>
            <a:ext cx="374903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0A0A0A"/>
                </a:solidFill>
                <a:latin typeface="Microsoft YaHei"/>
                <a:ea typeface="Microsoft YaHei"/>
              </a:rPr>
              <a:t>翻译后端按配置运行，失败进入回退链</a:t>
            </a:r>
          </a:p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37373"/>
                </a:solidFill>
                <a:latin typeface="Microsoft YaHei"/>
                <a:ea typeface="Microsoft YaHei"/>
              </a:rPr>
              <a:t>DeepSeek / OpenAI / DeepL / Google / MyMemory 等适配能力，是否可用取决于本地配置与网络。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11680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A0A0A"/>
                </a:solidFill>
                <a:latin typeface="Microsoft YaHei"/>
                <a:ea typeface="Microsoft YaHei"/>
              </a:rPr>
              <a:t>质量检查告警项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663440" y="2340864"/>
          <a:ext cx="69494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</a:tblGrid>
              <a:tr h="372291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检查项</a:t>
                      </a:r>
                    </a:p>
                  </a:txBody>
                  <a:tcPr marL="73152" marT="27432" marB="2743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判定依据</a:t>
                      </a:r>
                    </a:p>
                  </a:txBody>
                  <a:tcPr marL="73152" marT="27432" marB="27432">
                    <a:solidFill>
                      <a:srgbClr val="0A0A0A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免费/原文回退提示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实际后端写入记录，回退可见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译文明显过短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译文长度与原文显著不匹配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日文残留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译文中仍含日文字符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数字/单位/符号遗漏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原文数字未在译文出现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术语遗漏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词库词条未整词替换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72294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模型附带解释文字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译文中混入模型说明性内容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4663440" y="5138928"/>
            <a:ext cx="3749039" cy="10972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C9C9C7"/>
                </a:solidFill>
                <a:latin typeface="Consolas"/>
                <a:ea typeface="Consolas"/>
              </a:rPr>
              <a:t>可选增强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AI 润色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复用已有 DeepSeek 翻译服务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自然/口语/热血/搞笑/正式/自定义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</a:rPr>
              <a:t>失败时保留原译文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0" y="5138928"/>
            <a:ext cx="3017520" cy="1133856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[图片占位-09-词库/质量告警界面-3:2]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图片说明：放入真实词库界面或翻译结果中质量提示的截图。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排版与编辑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10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排版与编辑 · 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RENDER &amp; EDIT ·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译文如何落回画面：排版与人工编辑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自动排版保证不越界，人工编辑保证可修正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5394960" cy="303580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[图片占位-10-结果编辑器与排版对照-16:9]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图片说明：放入真实大图预览、文本框选中、字体预览或擦除撤销界面。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230368"/>
            <a:ext cx="5394960" cy="86868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5358384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自动排版 + 人工微调闭环</a:t>
            </a:r>
          </a:p>
          <a:p>
            <a:pPr algn="l"/>
            <a:r>
              <a:rPr sz="900" b="0" i="0">
                <a:solidFill>
                  <a:srgbClr val="C9C9C7"/>
                </a:solidFill>
                <a:latin typeface="Microsoft YaHei"/>
                <a:ea typeface="Microsoft YaHei"/>
              </a:rPr>
              <a:t>自动排版先给出不越界的译图，人工在编辑器里做最后修正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011680"/>
            <a:ext cx="5303520" cy="1170432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排版策略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横排与竖排采用不同排版策略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横排：均衡断行 + 字号选择，规避孤字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竖排：按气泡分列、按原文行序分配，控制列宽与字距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310128"/>
            <a:ext cx="5303520" cy="1170432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防丢字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渲染安全机制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文字与气泡掩膜覆盖率不足 50% 时回退矩形裁剪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气泡几何不可靠时按安全扩展框、紧致框分级处理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608576"/>
            <a:ext cx="5303520" cy="1490472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人工兜底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用户可操作编辑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拖拽移动文本框、调整尺寸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修改字体 / 字号 / 颜色 / 方向并即时预览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新增或删除文本框；局部擦除并支持撤销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任务与批量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11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任务与批量 · 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BATCH ·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任务与批量：如何保证可用性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批量是编排，推理仍串行；结果路径只信任服务端记录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737373"/>
                </a:solidFill>
                <a:latin typeface="Consolas"/>
                <a:ea typeface="Consolas"/>
              </a:rPr>
              <a:t>批量任务时序</a:t>
            </a:r>
          </a:p>
        </p:txBody>
      </p:sp>
      <p:sp>
        <p:nvSpPr>
          <p:cNvPr id="11" name="Pentagon 10"/>
          <p:cNvSpPr/>
          <p:nvPr/>
        </p:nvSpPr>
        <p:spPr>
          <a:xfrm>
            <a:off x="548640" y="2240280"/>
            <a:ext cx="2160361" cy="512064"/>
          </a:xfrm>
          <a:prstGeom prst="homePlate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01  批量校验</a:t>
            </a:r>
          </a:p>
        </p:txBody>
      </p:sp>
      <p:sp>
        <p:nvSpPr>
          <p:cNvPr id="12" name="Chevron 11"/>
          <p:cNvSpPr/>
          <p:nvPr/>
        </p:nvSpPr>
        <p:spPr>
          <a:xfrm>
            <a:off x="2782153" y="2240280"/>
            <a:ext cx="2160361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02  创建子任务</a:t>
            </a:r>
          </a:p>
        </p:txBody>
      </p:sp>
      <p:sp>
        <p:nvSpPr>
          <p:cNvPr id="13" name="Chevron 12"/>
          <p:cNvSpPr/>
          <p:nvPr/>
        </p:nvSpPr>
        <p:spPr>
          <a:xfrm>
            <a:off x="5015666" y="2240280"/>
            <a:ext cx="2160361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03  逐张串行处理</a:t>
            </a:r>
          </a:p>
        </p:txBody>
      </p:sp>
      <p:sp>
        <p:nvSpPr>
          <p:cNvPr id="14" name="Chevron 13"/>
          <p:cNvSpPr/>
          <p:nvPr/>
        </p:nvSpPr>
        <p:spPr>
          <a:xfrm>
            <a:off x="7249180" y="2240280"/>
            <a:ext cx="2160361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04  汇总平均进度</a:t>
            </a:r>
          </a:p>
        </p:txBody>
      </p:sp>
      <p:sp>
        <p:nvSpPr>
          <p:cNvPr id="15" name="Chevron 14"/>
          <p:cNvSpPr/>
          <p:nvPr/>
        </p:nvSpPr>
        <p:spPr>
          <a:xfrm>
            <a:off x="9482693" y="2240280"/>
            <a:ext cx="2160361" cy="512064"/>
          </a:xfrm>
          <a:prstGeom prst="chevron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</a:rPr>
              <a:t>05  生成 ZIP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63240"/>
            <a:ext cx="5394960" cy="13716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C9C9C7"/>
                </a:solidFill>
                <a:latin typeface="Consolas"/>
                <a:ea typeface="Consolas"/>
              </a:rPr>
              <a:t>关键约束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单 worker + 流水线锁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</a:rPr>
              <a:t>任务管理器默认单 worker，模型推理不并发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</a:rPr>
              <a:t>批量只并发编排，不并发推理；ZIP 保留原文件名与顺序，重名自动改名，含 manifest.json 与 errors.txt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063240"/>
            <a:ext cx="5349240" cy="13716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输入与输出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安全边界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文件类型与大小校验；批量数量与总大小限制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结果路径只从服务端任务记录解析，不接受客户端任意路径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6344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737373"/>
                </a:solidFill>
                <a:latin typeface="Consolas"/>
                <a:ea typeface="Consolas"/>
              </a:rPr>
              <a:t>批量结果状态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48640" y="4937760"/>
          <a:ext cx="6766560" cy="1298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926080"/>
                <a:gridCol w="2468880"/>
              </a:tblGrid>
              <a:tr h="324612"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状态</a:t>
                      </a:r>
                    </a:p>
                  </a:txBody>
                  <a:tcPr marL="73152" marT="27432" marB="2743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表现</a:t>
                      </a:r>
                    </a:p>
                  </a:txBody>
                  <a:tcPr marL="73152" marT="27432" marB="27432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用户操作</a:t>
                      </a:r>
                    </a:p>
                  </a:txBody>
                  <a:tcPr marL="73152" marT="27432" marB="27432">
                    <a:solidFill>
                      <a:srgbClr val="0A0A0A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正常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全部子任务成功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直接下载 ZIP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部分成功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失败子任务标明原因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可单独重试后重下</a:t>
                      </a:r>
                    </a:p>
                  </a:txBody>
                  <a:tcPr marL="73152" marT="27432" marB="27432">
                    <a:solidFill>
                      <a:srgbClr val="F0F0E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失败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errors.txt 列出明细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 i="0">
                          <a:solidFill>
                            <a:srgbClr val="0A0A0A"/>
                          </a:solidFill>
                          <a:latin typeface="Microsoft YaHei"/>
                          <a:ea typeface="Microsoft YaHei"/>
                        </a:rPr>
                        <a:t>按提示修正后重来</a:t>
                      </a:r>
                    </a:p>
                  </a:txBody>
                  <a:tcPr marL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7863840" y="4709160"/>
            <a:ext cx="3776472" cy="1600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[图片占位-11-批量任务界面或下载清单-16:9]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图片说明：放入多图任务进度、部分失败提示或 ZIP 下载界面截图。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产品界面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12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产品界面 · 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PRODUCT UI ·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产品界面：从工具到任务工作台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界面围绕“任务进行到哪、哪张失败、下一步做什么”组织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4572000" cy="65836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  <a:ea typeface="Consolas"/>
              </a:rPr>
              <a:t>01  </a:t>
            </a: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侧边栏：“翻译任务”与“专有名词库”同级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43784"/>
            <a:ext cx="4572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  <a:ea typeface="Consolas"/>
              </a:rPr>
              <a:t>02  </a:t>
            </a: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主区域：接近对话式的任务流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30168"/>
            <a:ext cx="4572000" cy="65836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  <a:ea typeface="Consolas"/>
              </a:rPr>
              <a:t>03  </a:t>
            </a: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底部：上传 / 粘贴图片并提交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16552"/>
            <a:ext cx="4572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73152" tIns="36576" bIns="36576"/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02FA7"/>
                </a:solidFill>
                <a:latin typeface="Consolas"/>
                <a:ea typeface="Consolas"/>
              </a:rPr>
              <a:t>04  </a:t>
            </a: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每张图完成后显示预览、重试、下载入口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76088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设计目的</a:t>
            </a:r>
          </a:p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让用户知道当前任务进行到哪里、哪一张失败、下一步能做什么。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2057400"/>
            <a:ext cx="6153912" cy="3465576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[图片占位-12-主界面/任务侧边栏/词库/编辑器拼版-16:9]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图片说明：放入实际前端页面截图（2—4 张拼版），统一裁剪比例和浏览器边框；截图旁加短标签。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5669280"/>
            <a:ext cx="1463040" cy="45720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任务状态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59168" y="5669280"/>
            <a:ext cx="1463040" cy="4572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0A0A0A"/>
                </a:solidFill>
                <a:latin typeface="Microsoft YaHei"/>
                <a:ea typeface="Microsoft YaHei"/>
              </a:rPr>
              <a:t>图片预览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31936" y="5669280"/>
            <a:ext cx="1463040" cy="4572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0A0A0A"/>
                </a:solidFill>
                <a:latin typeface="Microsoft YaHei"/>
                <a:ea typeface="Microsoft YaHei"/>
              </a:rPr>
              <a:t>文本编辑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04704" y="5669280"/>
            <a:ext cx="1463040" cy="45720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50" b="1" i="0">
                <a:solidFill>
                  <a:srgbClr val="0A0A0A"/>
                </a:solidFill>
                <a:latin typeface="Microsoft YaHei"/>
                <a:ea typeface="Microsoft YaHei"/>
              </a:rPr>
              <a:t>词库管理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AI 协作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13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AI 协作 · 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AI COLLABORATION ·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AI 协作：人工决策与迭代证据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人工做约束、核查与取舍；AI 做分析、草拟与局部实现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2926080" cy="1298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分工 A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人工负责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需求约束与优先级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事实核查与运行验证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体验判断与最终取舍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926080" cy="1298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分工 B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AI 负责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代码阅读与问题定位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方案草拟与局部实现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3D3D3D"/>
                </a:solidFill>
                <a:latin typeface="Microsoft YaHei"/>
                <a:ea typeface="Microsoft YaHei"/>
              </a:rPr>
              <a:t>测试建议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49039"/>
            <a:ext cx="6035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737373"/>
                </a:solidFill>
                <a:latin typeface="Consolas"/>
                <a:ea typeface="Consolas"/>
              </a:rPr>
              <a:t>迭代循环</a:t>
            </a:r>
          </a:p>
        </p:txBody>
      </p:sp>
      <p:sp>
        <p:nvSpPr>
          <p:cNvPr id="13" name="Pentagon 12"/>
          <p:cNvSpPr/>
          <p:nvPr/>
        </p:nvSpPr>
        <p:spPr>
          <a:xfrm>
            <a:off x="548640" y="4023360"/>
            <a:ext cx="1148486" cy="457200"/>
          </a:xfrm>
          <a:prstGeom prst="homePlate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0A0A0A"/>
                </a:solidFill>
                <a:latin typeface="Microsoft YaHei"/>
                <a:ea typeface="Microsoft YaHei"/>
              </a:rPr>
              <a:t>01  需求</a:t>
            </a:r>
          </a:p>
        </p:txBody>
      </p:sp>
      <p:sp>
        <p:nvSpPr>
          <p:cNvPr id="14" name="Chevron 13"/>
          <p:cNvSpPr/>
          <p:nvPr/>
        </p:nvSpPr>
        <p:spPr>
          <a:xfrm>
            <a:off x="1770278" y="4023360"/>
            <a:ext cx="1148486" cy="457200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0A0A0A"/>
                </a:solidFill>
                <a:latin typeface="Microsoft YaHei"/>
                <a:ea typeface="Microsoft YaHei"/>
              </a:rPr>
              <a:t>02  分析</a:t>
            </a:r>
          </a:p>
        </p:txBody>
      </p:sp>
      <p:sp>
        <p:nvSpPr>
          <p:cNvPr id="15" name="Chevron 14"/>
          <p:cNvSpPr/>
          <p:nvPr/>
        </p:nvSpPr>
        <p:spPr>
          <a:xfrm>
            <a:off x="2991916" y="4023360"/>
            <a:ext cx="1148486" cy="457200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0A0A0A"/>
                </a:solidFill>
                <a:latin typeface="Microsoft YaHei"/>
                <a:ea typeface="Microsoft YaHei"/>
              </a:rPr>
              <a:t>03  实现</a:t>
            </a:r>
          </a:p>
        </p:txBody>
      </p:sp>
      <p:sp>
        <p:nvSpPr>
          <p:cNvPr id="16" name="Chevron 15"/>
          <p:cNvSpPr/>
          <p:nvPr/>
        </p:nvSpPr>
        <p:spPr>
          <a:xfrm>
            <a:off x="4213555" y="4023360"/>
            <a:ext cx="1148486" cy="457200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0A0A0A"/>
                </a:solidFill>
                <a:latin typeface="Microsoft YaHei"/>
                <a:ea typeface="Microsoft YaHei"/>
              </a:rPr>
              <a:t>04  人工验证</a:t>
            </a:r>
          </a:p>
        </p:txBody>
      </p:sp>
      <p:sp>
        <p:nvSpPr>
          <p:cNvPr id="17" name="Chevron 16"/>
          <p:cNvSpPr/>
          <p:nvPr/>
        </p:nvSpPr>
        <p:spPr>
          <a:xfrm>
            <a:off x="5435193" y="4023360"/>
            <a:ext cx="1148486" cy="457200"/>
          </a:xfrm>
          <a:prstGeom prst="chevron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05  迭代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63440"/>
            <a:ext cx="6035040" cy="1572768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C9C9C7"/>
                </a:solidFill>
                <a:latin typeface="Consolas"/>
                <a:ea typeface="Consolas"/>
              </a:rPr>
              <a:t>边界声明</a:t>
            </a:r>
          </a:p>
          <a:p>
            <a:pPr algn="l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AI 能力边界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</a:rPr>
              <a:t>不能替代真实运行；不能自动证明准确率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50" b="0" i="0">
                <a:solidFill>
                  <a:srgbClr val="FFFFFF"/>
                </a:solidFill>
                <a:latin typeface="Microsoft YaHei"/>
                <a:ea typeface="Microsoft YaHei"/>
              </a:rPr>
              <a:t>不能把规划内容当成已实现；不能绕过人工对 UI 与输出效果的验收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011680"/>
            <a:ext cx="2377440" cy="1298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E1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先读代码与真实页面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800" b="0" i="0">
                <a:solidFill>
                  <a:srgbClr val="3D3D3D"/>
                </a:solidFill>
                <a:latin typeface="Microsoft YaHei"/>
                <a:ea typeface="Microsoft YaHei"/>
              </a:rPr>
              <a:t>AI 先阅读代码和真实页面再提方案，避免凭空编造功能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53728" y="2011680"/>
            <a:ext cx="2377440" cy="1298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E2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词库删除边界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800" b="0" i="0">
                <a:solidFill>
                  <a:srgbClr val="3D3D3D"/>
                </a:solidFill>
                <a:latin typeface="Microsoft YaHei"/>
                <a:ea typeface="Microsoft YaHei"/>
              </a:rPr>
              <a:t>人工发现内置/用户词条边界，要求只删用户词条；AI 完成数据迁移与验证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3429000"/>
            <a:ext cx="2377440" cy="1298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E3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AI 润色约束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800" b="0" i="0">
                <a:solidFill>
                  <a:srgbClr val="3D3D3D"/>
                </a:solidFill>
                <a:latin typeface="Microsoft YaHei"/>
                <a:ea typeface="Microsoft YaHei"/>
              </a:rPr>
              <a:t>人工限定复用已有 DeepSeek、不新增模型、不改主链，失败保留原译文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53728" y="3429000"/>
            <a:ext cx="2377440" cy="1298448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002FA7"/>
                </a:solidFill>
                <a:latin typeface="Consolas"/>
                <a:ea typeface="Consolas"/>
              </a:rPr>
              <a:t>E4</a:t>
            </a:r>
          </a:p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A0A0A"/>
                </a:solidFill>
                <a:latin typeface="Microsoft YaHei"/>
                <a:ea typeface="Microsoft YaHei"/>
              </a:rPr>
              <a:t>可观察验收条件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800" b="0" i="0">
                <a:solidFill>
                  <a:srgbClr val="3D3D3D"/>
                </a:solidFill>
                <a:latin typeface="Microsoft YaHei"/>
                <a:ea typeface="Microsoft YaHei"/>
              </a:rPr>
              <a:t>擦除、字体预览、文本框拖拽、文件夹上传：人工定验收条件并运行复核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4892040"/>
            <a:ext cx="4864608" cy="134416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[图片占位-13-AI 协作原始记录截图-4:3]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图片说明：放入真实交互记录截图，优先选择有明确约束、问题发现和验证结果的记录。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验证与演示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14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验证与演示 · 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VERIFICATION ·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怎么证明：测试与现场演示证据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只用真实验证结果说话：后端 171 项测试通过，前端生产构建成功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3291840" cy="15544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000" b="1" i="0" spc="150">
                <a:solidFill>
                  <a:srgbClr val="737373"/>
                </a:solidFill>
                <a:latin typeface="Consolas"/>
                <a:ea typeface="Consolas"/>
              </a:rPr>
              <a:t>后端测试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002FA7"/>
                </a:solidFill>
                <a:latin typeface="Microsoft YaHei Light"/>
                <a:ea typeface="Microsoft YaHei Light"/>
              </a:rPr>
              <a:t>171 项通过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stdlib unittest · 验证范围以当前代码和测试环境为准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59" y="2011680"/>
            <a:ext cx="3291840" cy="1554480"/>
          </a:xfrm>
          <a:prstGeom prst="rect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000" b="1" i="0" spc="150">
                <a:solidFill>
                  <a:srgbClr val="737373"/>
                </a:solidFill>
                <a:latin typeface="Consolas"/>
                <a:ea typeface="Consolas"/>
              </a:rPr>
              <a:t>前端生产构建</a:t>
            </a:r>
          </a:p>
          <a:p>
            <a:pPr algn="ctr">
              <a:spcAft>
                <a:spcPts val="400"/>
              </a:spcAft>
            </a:pPr>
            <a:r>
              <a:rPr sz="2400" b="0" i="0">
                <a:solidFill>
                  <a:srgbClr val="002FA7"/>
                </a:solidFill>
                <a:latin typeface="Microsoft YaHei Light"/>
                <a:ea typeface="Microsoft YaHei Light"/>
              </a:rPr>
              <a:t>构建成功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npm run build · 验证范围以当前代码和测试环境为准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011680"/>
            <a:ext cx="3776472" cy="1554480"/>
          </a:xfrm>
          <a:prstGeom prst="rect">
            <a:avLst/>
          </a:prstGeom>
          <a:noFill/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09728" tIns="91440" bIns="36576"/>
          <a:lstStyle/>
          <a:p>
            <a:pPr algn="l">
              <a:spcAft>
                <a:spcPts val="300"/>
              </a:spcAft>
            </a:pPr>
            <a:r>
              <a:rPr sz="900" b="1" i="0" spc="150">
                <a:solidFill>
                  <a:srgbClr val="737373"/>
                </a:solidFill>
                <a:latin typeface="Consolas"/>
                <a:ea typeface="Consolas"/>
              </a:rPr>
              <a:t>诚实声明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A0A0A"/>
                </a:solidFill>
                <a:latin typeface="Microsoft YaHei"/>
                <a:ea typeface="Microsoft YaHei"/>
              </a:rPr>
              <a:t>未提供的指标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00" b="0" i="0">
                <a:solidFill>
                  <a:srgbClr val="3D3D3D"/>
                </a:solidFill>
                <a:latin typeface="Microsoft YaHei"/>
                <a:ea typeface="Microsoft YaHei"/>
              </a:rPr>
              <a:t>无统一数据集测量的 OCR 准确率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00" b="0" i="0">
                <a:solidFill>
                  <a:srgbClr val="3D3D3D"/>
                </a:solidFill>
                <a:latin typeface="Microsoft YaHei"/>
                <a:ea typeface="Microsoft YaHei"/>
              </a:rPr>
              <a:t>无统一数据集测量的翻译准确率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900" b="0" i="0">
                <a:solidFill>
                  <a:srgbClr val="3D3D3D"/>
                </a:solidFill>
                <a:latin typeface="Microsoft YaHei"/>
                <a:ea typeface="Microsoft YaHei"/>
              </a:rPr>
              <a:t>无平均耗时统计，不做虚构比较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150">
                <a:solidFill>
                  <a:srgbClr val="737373"/>
                </a:solidFill>
                <a:latin typeface="Consolas"/>
                <a:ea typeface="Consolas"/>
              </a:rPr>
              <a:t>现场演示顺序（时间不足则播放录屏）</a:t>
            </a:r>
          </a:p>
        </p:txBody>
      </p:sp>
      <p:sp>
        <p:nvSpPr>
          <p:cNvPr id="14" name="Pentagon 13"/>
          <p:cNvSpPr/>
          <p:nvPr/>
        </p:nvSpPr>
        <p:spPr>
          <a:xfrm>
            <a:off x="548640" y="4069080"/>
            <a:ext cx="1530052" cy="512064"/>
          </a:xfrm>
          <a:prstGeom prst="homePlate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01  选日文/英文样例</a:t>
            </a:r>
          </a:p>
        </p:txBody>
      </p:sp>
      <p:sp>
        <p:nvSpPr>
          <p:cNvPr id="15" name="Chevron 14"/>
          <p:cNvSpPr/>
          <p:nvPr/>
        </p:nvSpPr>
        <p:spPr>
          <a:xfrm>
            <a:off x="2142700" y="4069080"/>
            <a:ext cx="1530052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02  上传/粘贴</a:t>
            </a:r>
          </a:p>
        </p:txBody>
      </p:sp>
      <p:sp>
        <p:nvSpPr>
          <p:cNvPr id="16" name="Chevron 15"/>
          <p:cNvSpPr/>
          <p:nvPr/>
        </p:nvSpPr>
        <p:spPr>
          <a:xfrm>
            <a:off x="3736760" y="4069080"/>
            <a:ext cx="1530052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03  查看进度</a:t>
            </a:r>
          </a:p>
        </p:txBody>
      </p:sp>
      <p:sp>
        <p:nvSpPr>
          <p:cNvPr id="17" name="Chevron 16"/>
          <p:cNvSpPr/>
          <p:nvPr/>
        </p:nvSpPr>
        <p:spPr>
          <a:xfrm>
            <a:off x="5330821" y="4069080"/>
            <a:ext cx="1530052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04  展示译图</a:t>
            </a:r>
          </a:p>
        </p:txBody>
      </p:sp>
      <p:sp>
        <p:nvSpPr>
          <p:cNvPr id="18" name="Chevron 17"/>
          <p:cNvSpPr/>
          <p:nvPr/>
        </p:nvSpPr>
        <p:spPr>
          <a:xfrm>
            <a:off x="6924881" y="4069080"/>
            <a:ext cx="1530052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05  打开编辑</a:t>
            </a:r>
          </a:p>
        </p:txBody>
      </p:sp>
      <p:sp>
        <p:nvSpPr>
          <p:cNvPr id="19" name="Chevron 18"/>
          <p:cNvSpPr/>
          <p:nvPr/>
        </p:nvSpPr>
        <p:spPr>
          <a:xfrm>
            <a:off x="8518942" y="4069080"/>
            <a:ext cx="1530052" cy="512064"/>
          </a:xfrm>
          <a:prstGeom prst="chevron">
            <a:avLst/>
          </a:prstGeom>
          <a:solidFill>
            <a:srgbClr val="F0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0A0A0A"/>
                </a:solidFill>
                <a:latin typeface="Microsoft YaHei"/>
                <a:ea typeface="Microsoft YaHei"/>
              </a:rPr>
              <a:t>06  修改一处</a:t>
            </a:r>
          </a:p>
        </p:txBody>
      </p:sp>
      <p:sp>
        <p:nvSpPr>
          <p:cNvPr id="20" name="Chevron 19"/>
          <p:cNvSpPr/>
          <p:nvPr/>
        </p:nvSpPr>
        <p:spPr>
          <a:xfrm>
            <a:off x="10113002" y="4069080"/>
            <a:ext cx="1530052" cy="512064"/>
          </a:xfrm>
          <a:prstGeom prst="chevron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</a:rPr>
              <a:t>07  下载结果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6035040" cy="14630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[图片占位-14-测试结果与真实译图对照-16:9]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图片说明：左侧放测试通过截图，右侧放仓库真实日文/英文样例的原译对照。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846320"/>
            <a:ext cx="4754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0A0A0A"/>
                </a:solidFill>
                <a:latin typeface="Microsoft YaHei"/>
                <a:ea typeface="Microsoft YaHei"/>
              </a:rPr>
              <a:t>三类证据位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测试命令结果截图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原图 / 译图对照</a:t>
            </a:r>
          </a:p>
          <a:p>
            <a:pPr algn="l"/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实际操作录屏或 UI 截图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AI Manga Translator · 结论与答辩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57055" y="29260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160">
                <a:solidFill>
                  <a:srgbClr val="737373"/>
                </a:solidFill>
                <a:latin typeface="Consolas"/>
                <a:ea typeface="Consolas"/>
              </a:rPr>
              <a:t>15 / 15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4D4D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1"/>
            <a:ext cx="7772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漫画多语言智能翻译系统 · 初步验收汇报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42655" y="6473951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 spc="120">
                <a:solidFill>
                  <a:srgbClr val="737373"/>
                </a:solidFill>
                <a:latin typeface="Consolas"/>
                <a:ea typeface="Consolas"/>
              </a:rPr>
              <a:t>结论与答辩 · 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 spc="220">
                <a:solidFill>
                  <a:srgbClr val="002FA7"/>
                </a:solidFill>
                <a:latin typeface="Consolas"/>
                <a:ea typeface="Consolas"/>
              </a:rPr>
              <a:t>CONCLUSION ·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969264"/>
            <a:ext cx="110944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结论、边界与答辩入口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37373"/>
                </a:solidFill>
                <a:latin typeface="Microsoft YaHei"/>
                <a:ea typeface="Microsoft YaHei"/>
              </a:rPr>
              <a:t>闭环已通、难点已解、边界已明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2FA7"/>
                </a:solidFill>
                <a:latin typeface="Consolas"/>
                <a:ea typeface="Consolas"/>
              </a:rPr>
              <a:t>01  </a:t>
            </a:r>
            <a:r>
              <a:rPr sz="1250" b="0" i="0">
                <a:solidFill>
                  <a:srgbClr val="0A0A0A"/>
                </a:solidFill>
                <a:latin typeface="Microsoft YaHei"/>
                <a:ea typeface="Microsoft YaHei"/>
              </a:rPr>
              <a:t>已实现“图片输入—识别—修复—翻译—排版—编辑—下载”的完整闭环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33472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2FA7"/>
                </a:solidFill>
                <a:latin typeface="Consolas"/>
                <a:ea typeface="Consolas"/>
              </a:rPr>
              <a:t>02  </a:t>
            </a:r>
            <a:r>
              <a:rPr sz="1250" b="0" i="0">
                <a:solidFill>
                  <a:srgbClr val="0A0A0A"/>
                </a:solidFill>
                <a:latin typeface="Microsoft YaHei"/>
                <a:ea typeface="Microsoft YaHei"/>
              </a:rPr>
              <a:t>核心难点在漫画场景下的方向识别、气泡边界、背景修复和可控回退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55264"/>
            <a:ext cx="73152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02FA7"/>
                </a:solidFill>
                <a:latin typeface="Consolas"/>
                <a:ea typeface="Consolas"/>
              </a:rPr>
              <a:t>03  </a:t>
            </a:r>
            <a:r>
              <a:rPr sz="1250" b="0" i="0">
                <a:solidFill>
                  <a:srgbClr val="0A0A0A"/>
                </a:solidFill>
                <a:latin typeface="Microsoft YaHei"/>
                <a:ea typeface="Microsoft YaHei"/>
              </a:rPr>
              <a:t>下一步优先完善历史记录、章节级管理和更多真实样例验证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4206240" cy="1783080"/>
          </a:xfrm>
          <a:prstGeom prst="rect">
            <a:avLst/>
          </a:prstGeom>
          <a:solidFill>
            <a:srgbClr val="F0F0EE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73152" tIns="109728" bIns="36576"/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当前可验收能力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图片/文件夹输入与日英→中翻译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任务进度、预览、单张重试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词库、文本框编辑、局部擦除撤销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单张/批量 ZIP 下载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59" y="3977639"/>
            <a:ext cx="29260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4D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73152" tIns="109728" bIns="36576"/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0A0A0A"/>
                </a:solidFill>
                <a:latin typeface="Microsoft YaHei"/>
                <a:ea typeface="Microsoft YaHei"/>
              </a:rPr>
              <a:t>后续可扩展方向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历史翻译记录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章节级管理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EPUB / CBZ / PDF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950" b="0" i="0">
                <a:solidFill>
                  <a:srgbClr val="737373"/>
                </a:solidFill>
                <a:latin typeface="Microsoft YaHei"/>
                <a:ea typeface="Microsoft YaHei"/>
              </a:rPr>
              <a:t>· 团队协作、云端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8978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0A0A0A"/>
                </a:solidFill>
                <a:latin typeface="Microsoft YaHei Light"/>
                <a:ea typeface="Microsoft YaHei Light"/>
              </a:rPr>
              <a:t>谢谢，欢迎提问。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011680"/>
            <a:ext cx="3319272" cy="91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2011680"/>
            <a:ext cx="2377440" cy="237744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FA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600"/>
              </a:spcAft>
            </a:pPr>
            <a:r>
              <a:rPr sz="1050" b="1" i="0">
                <a:solidFill>
                  <a:srgbClr val="002FA7"/>
                </a:solidFill>
                <a:latin typeface="Consolas"/>
                <a:ea typeface="Consolas"/>
              </a:rPr>
              <a:t>[图片占位-15-最终译图或项目二维码-1:1]</a:t>
            </a:r>
          </a:p>
          <a:p>
            <a:pPr algn="ctr">
              <a:lnSpc>
                <a:spcPct val="125000"/>
              </a:lnSpc>
            </a:pPr>
            <a:r>
              <a:rPr sz="850" b="0" i="0">
                <a:solidFill>
                  <a:srgbClr val="737373"/>
                </a:solidFill>
                <a:latin typeface="Microsoft YaHei"/>
                <a:ea typeface="Microsoft YaHei"/>
              </a:rPr>
              <a:t>图片说明：可放一张最有代表性的真实译图；如有项目地址再替换为真实二维码。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4663440"/>
            <a:ext cx="2377440" cy="1097280"/>
          </a:xfrm>
          <a:prstGeom prst="rect">
            <a:avLst/>
          </a:prstGeom>
          <a:solidFill>
            <a:srgbClr val="002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</a:rPr>
              <a:t>现场演示入口</a:t>
            </a:r>
          </a:p>
          <a:p>
            <a:pPr algn="ctr"/>
            <a:r>
              <a:rPr sz="900" b="0" i="0">
                <a:solidFill>
                  <a:srgbClr val="D5DDF5"/>
                </a:solidFill>
                <a:latin typeface="Microsoft YaHei"/>
                <a:ea typeface="Microsoft YaHei"/>
              </a:rPr>
              <a:t>打开系统实操或播放录屏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