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"/>
            <a:ext cx="54864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9EAEC9"/>
                </a:solidFill>
                <a:latin typeface="Consolas"/>
              </a:rPr>
              <a:t>AI MANGA TRANSLATOR  / 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22860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9EAEC9"/>
                </a:solidFill>
                <a:latin typeface="Consolas"/>
              </a:rPr>
              <a:t>01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68680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8DCF0"/>
                </a:solidFill>
                <a:latin typeface="Consolas"/>
              </a:rPr>
              <a:t>SOFTWARE ENGINEERING PROJECT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1556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F1F6FC"/>
                </a:solidFill>
                <a:latin typeface="Microsoft YaHei"/>
              </a:rPr>
              <a:t>AI Manga Translator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74519"/>
            <a:ext cx="73152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200" b="1">
                <a:solidFill>
                  <a:srgbClr val="F1F6FC"/>
                </a:solidFill>
                <a:latin typeface="Microsoft YaHei"/>
              </a:rPr>
              <a:t>基于 OCR、AI 翻译与图像修复的智能漫画翻译系统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542032"/>
            <a:ext cx="65836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9EAEC9"/>
                </a:solidFill>
                <a:latin typeface="Microsoft YaHei"/>
              </a:rPr>
              <a:t>把识别、翻译、擦除、修复、排版串成一条可运行的工程化流水线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154680"/>
            <a:ext cx="3794760" cy="310896"/>
          </a:xfrm>
          <a:prstGeom prst="roundRect">
            <a:avLst/>
          </a:prstGeom>
          <a:solidFill>
            <a:srgbClr val="16283C"/>
          </a:solidFill>
          <a:ln w="12700">
            <a:solidFill>
              <a:srgbClr val="2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163824"/>
            <a:ext cx="379476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28DCF0"/>
                </a:solidFill>
                <a:latin typeface="Consolas"/>
              </a:rPr>
              <a:t>React / FastAPI / MIT OCR / OpenCV / LaMa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417320"/>
            <a:ext cx="2331720" cy="23317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04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micx-app-ic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759952" y="1490472"/>
            <a:ext cx="2185415" cy="218541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851392" y="1563624"/>
            <a:ext cx="1088136" cy="310896"/>
          </a:xfrm>
          <a:prstGeom prst="roundRect">
            <a:avLst/>
          </a:prstGeom>
          <a:solidFill>
            <a:srgbClr val="16283C"/>
          </a:solidFill>
          <a:ln w="12700">
            <a:solidFill>
              <a:srgbClr val="F46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51392" y="1572768"/>
            <a:ext cx="1088136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468C6"/>
                </a:solidFill>
                <a:latin typeface="Consolas"/>
              </a:rPr>
              <a:t>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4617720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9EAEC9"/>
                </a:solidFill>
                <a:latin typeface="Microsoft YaHei"/>
              </a:rPr>
              <a:t>姓名 / 小组：____________
日期：2026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"/>
            <a:ext cx="54864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9EAEC9"/>
                </a:solidFill>
                <a:latin typeface="Consolas"/>
              </a:rPr>
              <a:t>AI MANGA TRANSLATOR  / 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22860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9EAEC9"/>
                </a:solidFill>
                <a:latin typeface="Consolas"/>
              </a:rPr>
              <a:t>02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68680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8DCF0"/>
                </a:solidFill>
                <a:latin typeface="Consolas"/>
              </a:rPr>
              <a:t>01 / PROBLEM →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1556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F1F6FC"/>
                </a:solidFill>
                <a:latin typeface="Microsoft YaHei"/>
              </a:rPr>
              <a:t>我们解决什么问题？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F1F6FC"/>
                </a:solidFill>
                <a:latin typeface="Microsoft YaHei"/>
              </a:rPr>
              <a:t>传统漫画翻译需要在 OCR、翻译、修图、排版之间反复切换；复杂背景和竖排文字尤其耗时。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43200"/>
            <a:ext cx="1874519" cy="109728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FFB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26080"/>
            <a:ext cx="1874519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B259"/>
                </a:solidFill>
                <a:latin typeface="Microsoft YaHei"/>
              </a:rPr>
              <a:t>识别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37560"/>
            <a:ext cx="1874519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9EAEC9"/>
                </a:solidFill>
                <a:latin typeface="Microsoft YaHei"/>
              </a:rPr>
              <a:t>人工抄录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88920" y="3291840"/>
            <a:ext cx="548640" cy="0"/>
          </a:xfrm>
          <a:prstGeom prst="line">
            <a:avLst/>
          </a:prstGeom>
          <a:ln w="25400">
            <a:solidFill>
              <a:srgbClr val="5264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566160" y="2743200"/>
            <a:ext cx="1874519" cy="109728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F46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80"/>
            <a:ext cx="1874519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468C6"/>
                </a:solidFill>
                <a:latin typeface="Microsoft YaHei"/>
              </a:rPr>
              <a:t>翻译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337560"/>
            <a:ext cx="1874519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9EAEC9"/>
                </a:solidFill>
                <a:latin typeface="Microsoft YaHei"/>
              </a:rPr>
              <a:t>逐句处理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532120" y="3291840"/>
            <a:ext cx="548640" cy="0"/>
          </a:xfrm>
          <a:prstGeom prst="line">
            <a:avLst/>
          </a:prstGeom>
          <a:ln w="25400">
            <a:solidFill>
              <a:srgbClr val="5264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09360" y="2743200"/>
            <a:ext cx="1874519" cy="109728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A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926080"/>
            <a:ext cx="1874519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AD6FFF"/>
                </a:solidFill>
                <a:latin typeface="Microsoft YaHei"/>
              </a:rPr>
              <a:t>修复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337560"/>
            <a:ext cx="1874519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9EAEC9"/>
                </a:solidFill>
                <a:latin typeface="Microsoft YaHei"/>
              </a:rPr>
              <a:t>擦除 + 补背景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75320" y="3291840"/>
            <a:ext cx="548640" cy="0"/>
          </a:xfrm>
          <a:prstGeom prst="line">
            <a:avLst/>
          </a:prstGeom>
          <a:ln w="25400">
            <a:solidFill>
              <a:srgbClr val="5264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52560" y="2743200"/>
            <a:ext cx="1874519" cy="109728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2926080"/>
            <a:ext cx="1874519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28DCF0"/>
                </a:solidFill>
                <a:latin typeface="Microsoft YaHei"/>
              </a:rPr>
              <a:t>排版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337560"/>
            <a:ext cx="1874519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9EAEC9"/>
                </a:solidFill>
                <a:latin typeface="Microsoft YaHei"/>
              </a:rPr>
              <a:t>逐框调整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800600"/>
            <a:ext cx="103327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28DCF0"/>
                </a:solidFill>
                <a:latin typeface="Microsoft YaHei"/>
              </a:rPr>
              <a:t>目标：输入漫画图片，输出可以直接阅读、预览、下载，并允许继续修正的中文译图。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"/>
            <a:ext cx="54864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9EAEC9"/>
                </a:solidFill>
                <a:latin typeface="Consolas"/>
              </a:rPr>
              <a:t>AI MANGA TRANSLATOR  / 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22860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9EAEC9"/>
                </a:solidFill>
                <a:latin typeface="Consolas"/>
              </a:rPr>
              <a:t>03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68680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8DCF0"/>
                </a:solidFill>
                <a:latin typeface="Consolas"/>
              </a:rPr>
              <a:t>02 /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1556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F1F6FC"/>
                </a:solidFill>
                <a:latin typeface="Microsoft YaHei"/>
              </a:rPr>
              <a:t>项目技术栈：前后端分离 + 可插拔引擎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828800"/>
            <a:ext cx="10652760" cy="59436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84248"/>
            <a:ext cx="14173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8DCF0"/>
                </a:solidFill>
                <a:latin typeface="Microsoft YaHei"/>
              </a:rPr>
              <a:t>语言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1984248"/>
            <a:ext cx="83210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F1F6FC"/>
                </a:solidFill>
                <a:latin typeface="Microsoft YaHei"/>
              </a:rPr>
              <a:t>Python  /  JavaScript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10652760" cy="59436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852928"/>
            <a:ext cx="14173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AD6FFF"/>
                </a:solidFill>
                <a:latin typeface="Microsoft YaHei"/>
              </a:rPr>
              <a:t>前端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852928"/>
            <a:ext cx="83210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F1F6FC"/>
                </a:solidFill>
                <a:latin typeface="Microsoft YaHei"/>
              </a:rPr>
              <a:t>React 18 · Vite 6 · Tailwind CSS v4 · Framer Motion · GSAP · Lucide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66160"/>
            <a:ext cx="10652760" cy="59436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721608"/>
            <a:ext cx="14173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468C6"/>
                </a:solidFill>
                <a:latin typeface="Microsoft YaHei"/>
              </a:rPr>
              <a:t>后端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721608"/>
            <a:ext cx="83210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F1F6FC"/>
                </a:solidFill>
                <a:latin typeface="Microsoft YaHei"/>
              </a:rPr>
              <a:t>FastAPI · Pydantic Settings · SQLite · 文件存储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434840"/>
            <a:ext cx="10652760" cy="59436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590288"/>
            <a:ext cx="14173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FB259"/>
                </a:solidFill>
                <a:latin typeface="Microsoft YaHei"/>
              </a:rPr>
              <a:t>AI / 图像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590288"/>
            <a:ext cx="83210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F1F6FC"/>
                </a:solidFill>
                <a:latin typeface="Microsoft YaHei"/>
              </a:rPr>
              <a:t>CTD / DBNet · MIT48 · manga-ocr · PaddleOCR · OpenCV · LaMa · PyTorch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23560"/>
            <a:ext cx="103327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9EAEC9"/>
                </a:solidFill>
                <a:latin typeface="Consolas"/>
              </a:rPr>
              <a:t>工程选择：模型推理保持串行；引擎通过工厂与缓存复用，便于切换与回退。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"/>
            <a:ext cx="54864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9EAEC9"/>
                </a:solidFill>
                <a:latin typeface="Consolas"/>
              </a:rPr>
              <a:t>AI MANGA TRANSLATOR  / 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22860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9EAEC9"/>
                </a:solidFill>
                <a:latin typeface="Consolas"/>
              </a:rPr>
              <a:t>04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68680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8DCF0"/>
                </a:solidFill>
                <a:latin typeface="Consolas"/>
              </a:rPr>
              <a:t>03 /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1556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F1F6FC"/>
                </a:solidFill>
                <a:latin typeface="Microsoft YaHei"/>
              </a:rPr>
              <a:t>核心流程：翻译不是唯一难点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514600"/>
            <a:ext cx="1417320" cy="9601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651760"/>
            <a:ext cx="14173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28DCF0"/>
                </a:solidFill>
                <a:latin typeface="Consola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971800"/>
            <a:ext cx="14173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1F6FC"/>
                </a:solidFill>
                <a:latin typeface="Microsoft YaHei"/>
              </a:rPr>
              <a:t>检测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56232" y="2990088"/>
            <a:ext cx="201168" cy="0"/>
          </a:xfrm>
          <a:prstGeom prst="line">
            <a:avLst/>
          </a:prstGeom>
          <a:ln w="25400">
            <a:solidFill>
              <a:srgbClr val="5264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093976" y="2514600"/>
            <a:ext cx="1417320" cy="9601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A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93976" y="2651760"/>
            <a:ext cx="14173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AD6FFF"/>
                </a:solidFill>
                <a:latin typeface="Consola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2971800"/>
            <a:ext cx="14173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1F6FC"/>
                </a:solidFill>
                <a:latin typeface="Microsoft YaHei"/>
              </a:rPr>
              <a:t>OCR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38728" y="2990088"/>
            <a:ext cx="201168" cy="0"/>
          </a:xfrm>
          <a:prstGeom prst="line">
            <a:avLst/>
          </a:prstGeom>
          <a:ln w="25400">
            <a:solidFill>
              <a:srgbClr val="5264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776472" y="2514600"/>
            <a:ext cx="1417320" cy="9601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FFB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6472" y="2651760"/>
            <a:ext cx="14173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B259"/>
                </a:solidFill>
                <a:latin typeface="Consola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2971800"/>
            <a:ext cx="14173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1F6FC"/>
                </a:solidFill>
                <a:latin typeface="Microsoft YaHei"/>
              </a:rPr>
              <a:t>擦除 / 修复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221224" y="2990088"/>
            <a:ext cx="201168" cy="0"/>
          </a:xfrm>
          <a:prstGeom prst="line">
            <a:avLst/>
          </a:prstGeom>
          <a:ln w="25400">
            <a:solidFill>
              <a:srgbClr val="5264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458968" y="2514600"/>
            <a:ext cx="1417320" cy="9601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F46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58968" y="2651760"/>
            <a:ext cx="14173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468C6"/>
                </a:solidFill>
                <a:latin typeface="Consola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8968" y="2971800"/>
            <a:ext cx="14173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1F6FC"/>
                </a:solidFill>
                <a:latin typeface="Microsoft YaHei"/>
              </a:rPr>
              <a:t>气泡分组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03720" y="2990088"/>
            <a:ext cx="201168" cy="0"/>
          </a:xfrm>
          <a:prstGeom prst="line">
            <a:avLst/>
          </a:prstGeom>
          <a:ln w="25400">
            <a:solidFill>
              <a:srgbClr val="5264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141464" y="2514600"/>
            <a:ext cx="1417320" cy="9601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41464" y="2651760"/>
            <a:ext cx="14173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28DCF0"/>
                </a:solidFill>
                <a:latin typeface="Consola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41464" y="2971800"/>
            <a:ext cx="14173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1F6FC"/>
                </a:solidFill>
                <a:latin typeface="Microsoft YaHei"/>
              </a:rPr>
              <a:t>上下文翻译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86216" y="2990088"/>
            <a:ext cx="201168" cy="0"/>
          </a:xfrm>
          <a:prstGeom prst="line">
            <a:avLst/>
          </a:prstGeom>
          <a:ln w="25400">
            <a:solidFill>
              <a:srgbClr val="5264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823960" y="2514600"/>
            <a:ext cx="1417320" cy="9601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50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2651760"/>
            <a:ext cx="14173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50DCAA"/>
                </a:solidFill>
                <a:latin typeface="Consola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971800"/>
            <a:ext cx="14173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1F6FC"/>
                </a:solidFill>
                <a:latin typeface="Microsoft YaHei"/>
              </a:rPr>
              <a:t>质量检查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268712" y="2990088"/>
            <a:ext cx="201168" cy="0"/>
          </a:xfrm>
          <a:prstGeom prst="line">
            <a:avLst/>
          </a:prstGeom>
          <a:ln w="25400">
            <a:solidFill>
              <a:srgbClr val="5264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506456" y="2514600"/>
            <a:ext cx="1417320" cy="9601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A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06456" y="2651760"/>
            <a:ext cx="14173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AD6FFF"/>
                </a:solidFill>
                <a:latin typeface="Consolas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06456" y="2971800"/>
            <a:ext cx="14173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1F6FC"/>
                </a:solidFill>
                <a:latin typeface="Microsoft YaHei"/>
              </a:rPr>
              <a:t>排版输出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4343400"/>
            <a:ext cx="3337560" cy="9601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343400"/>
            <a:ext cx="54864" cy="960120"/>
          </a:xfrm>
          <a:prstGeom prst="rect">
            <a:avLst/>
          </a:prstGeom>
          <a:solidFill>
            <a:srgbClr val="2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" y="4480560"/>
            <a:ext cx="2971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1F6FC"/>
                </a:solidFill>
                <a:latin typeface="Microsoft YaHei"/>
              </a:rPr>
              <a:t>亮点 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" y="4846320"/>
            <a:ext cx="2971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9EAEC9"/>
                </a:solidFill>
                <a:latin typeface="Microsoft YaHei"/>
              </a:rPr>
              <a:t>在清理图上分组，同时用原图轮廓防止气泡误合并。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34840" y="4343400"/>
            <a:ext cx="3337560" cy="9601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34840" y="4343400"/>
            <a:ext cx="54864" cy="960120"/>
          </a:xfrm>
          <a:prstGeom prst="rect">
            <a:avLst/>
          </a:prstGeom>
          <a:solidFill>
            <a:srgbClr val="F4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36007" y="4480560"/>
            <a:ext cx="2971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1F6FC"/>
                </a:solidFill>
                <a:latin typeface="Microsoft YaHei"/>
              </a:rPr>
              <a:t>亮点 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36007" y="4846320"/>
            <a:ext cx="2971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9EAEC9"/>
                </a:solidFill>
                <a:latin typeface="Microsoft YaHei"/>
              </a:rPr>
              <a:t>按气泡翻译，保留上下文、语气与阅读顺序。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92440" y="4343400"/>
            <a:ext cx="3337560" cy="9601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92440" y="4343400"/>
            <a:ext cx="54864" cy="960120"/>
          </a:xfrm>
          <a:prstGeom prst="rect">
            <a:avLst/>
          </a:prstGeom>
          <a:solidFill>
            <a:srgbClr val="50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93608" y="4480560"/>
            <a:ext cx="2971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1F6FC"/>
                </a:solidFill>
                <a:latin typeface="Microsoft YaHei"/>
              </a:rPr>
              <a:t>亮点 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93608" y="4846320"/>
            <a:ext cx="2971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9EAEC9"/>
                </a:solidFill>
                <a:latin typeface="Microsoft YaHei"/>
              </a:rPr>
              <a:t>每张图片独立任务，支持进度、预览、下载、重试。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"/>
            <a:ext cx="54864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9EAEC9"/>
                </a:solidFill>
                <a:latin typeface="Consolas"/>
              </a:rPr>
              <a:t>AI MANGA TRANSLATOR  / 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22860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9EAEC9"/>
                </a:solidFill>
                <a:latin typeface="Consolas"/>
              </a:rPr>
              <a:t>05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68680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8DCF0"/>
                </a:solidFill>
                <a:latin typeface="Consolas"/>
              </a:rPr>
              <a:t>04 / 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1556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F1F6FC"/>
                </a:solidFill>
                <a:latin typeface="Microsoft YaHei"/>
              </a:rPr>
              <a:t>项目亮点与创新点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74519"/>
            <a:ext cx="3337560" cy="114300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874519"/>
            <a:ext cx="54864" cy="1143000"/>
          </a:xfrm>
          <a:prstGeom prst="rect">
            <a:avLst/>
          </a:prstGeom>
          <a:solidFill>
            <a:srgbClr val="2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11679"/>
            <a:ext cx="2971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1F6FC"/>
                </a:solidFill>
                <a:latin typeface="Microsoft YaHei"/>
              </a:rPr>
              <a:t>漫画级 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377439"/>
            <a:ext cx="297180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9EAEC9"/>
                </a:solidFill>
                <a:latin typeface="Microsoft YaHei"/>
              </a:rPr>
              <a:t>竖排、艺术字、非气泡文字保护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1874519"/>
            <a:ext cx="3337560" cy="114300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1874519"/>
            <a:ext cx="54864" cy="1143000"/>
          </a:xfrm>
          <a:prstGeom prst="rect">
            <a:avLst/>
          </a:prstGeom>
          <a:solidFill>
            <a:srgbClr val="FFB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2011679"/>
            <a:ext cx="2971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1F6FC"/>
                </a:solidFill>
                <a:latin typeface="Microsoft YaHei"/>
              </a:rPr>
              <a:t>双路径修复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377439"/>
            <a:ext cx="297180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9EAEC9"/>
                </a:solidFill>
                <a:latin typeface="Microsoft YaHei"/>
              </a:rPr>
              <a:t>CV / LaMa 按配置切换，复杂背景有更高质量选项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1874519"/>
            <a:ext cx="3337560" cy="114300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1874519"/>
            <a:ext cx="54864" cy="1143000"/>
          </a:xfrm>
          <a:prstGeom prst="rect">
            <a:avLst/>
          </a:prstGeom>
          <a:solidFill>
            <a:srgbClr val="F4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6488" y="2011679"/>
            <a:ext cx="2971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1F6FC"/>
                </a:solidFill>
                <a:latin typeface="Microsoft YaHei"/>
              </a:rPr>
              <a:t>智能排版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2377439"/>
            <a:ext cx="297180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9EAEC9"/>
                </a:solidFill>
                <a:latin typeface="Microsoft YaHei"/>
              </a:rPr>
              <a:t>中文横竖排自适应，气泡几何约束 + 多级回退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383279"/>
            <a:ext cx="3337560" cy="114300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383279"/>
            <a:ext cx="54864" cy="1143000"/>
          </a:xfrm>
          <a:prstGeom prst="rect">
            <a:avLst/>
          </a:prstGeom>
          <a:solidFill>
            <a:srgbClr val="AD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520439"/>
            <a:ext cx="2971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1F6FC"/>
                </a:solidFill>
                <a:latin typeface="Microsoft YaHei"/>
              </a:rPr>
              <a:t>可解释回退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886200"/>
            <a:ext cx="297180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9EAEC9"/>
                </a:solidFill>
                <a:latin typeface="Microsoft YaHei"/>
              </a:rPr>
              <a:t>翻译后端、GPU/CPU、模型失败原因均可追踪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3383279"/>
            <a:ext cx="3337560" cy="114300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3383279"/>
            <a:ext cx="54864" cy="1143000"/>
          </a:xfrm>
          <a:prstGeom prst="rect">
            <a:avLst/>
          </a:prstGeom>
          <a:solidFill>
            <a:srgbClr val="50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3520439"/>
            <a:ext cx="2971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1F6FC"/>
                </a:solidFill>
                <a:latin typeface="Microsoft YaHei"/>
              </a:rPr>
              <a:t>术语一致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3886200"/>
            <a:ext cx="297180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9EAEC9"/>
                </a:solidFill>
                <a:latin typeface="Microsoft YaHei"/>
              </a:rPr>
              <a:t>角色名、作品名等术语支持 CRUD 与 JSON 导入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3383279"/>
            <a:ext cx="3337560" cy="114300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75320" y="3383279"/>
            <a:ext cx="54864" cy="1143000"/>
          </a:xfrm>
          <a:prstGeom prst="rect">
            <a:avLst/>
          </a:prstGeom>
          <a:solidFill>
            <a:srgbClr val="2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76488" y="3520439"/>
            <a:ext cx="2971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1F6FC"/>
                </a:solidFill>
                <a:latin typeface="Microsoft YaHei"/>
              </a:rPr>
              <a:t>批量闭环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6488" y="3886200"/>
            <a:ext cx="297180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9EAEC9"/>
                </a:solidFill>
                <a:latin typeface="Microsoft YaHei"/>
              </a:rPr>
              <a:t>最多 100 张图片编排，结果汇总并导出 ZIP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"/>
            <a:ext cx="54864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9EAEC9"/>
                </a:solidFill>
                <a:latin typeface="Consolas"/>
              </a:rPr>
              <a:t>AI MANGA TRANSLATOR  / 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22860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9EAEC9"/>
                </a:solidFill>
                <a:latin typeface="Consolas"/>
              </a:rPr>
              <a:t>06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68680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8DCF0"/>
                </a:solidFill>
                <a:latin typeface="Consolas"/>
              </a:rPr>
              <a:t>05 / AI COLLABORATION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1556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F1F6FC"/>
                </a:solidFill>
                <a:latin typeface="Microsoft YaHei"/>
              </a:rPr>
              <a:t>AI 协作：我负责判断，AI 负责执行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91640"/>
            <a:ext cx="1060704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F1F6FC"/>
                </a:solidFill>
                <a:latin typeface="Microsoft YaHei"/>
              </a:rPr>
              <a:t>评分关注的不只是“用了 AI”，而是能否提出约束、验证结果、纠正问题并持续迭代。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240280"/>
            <a:ext cx="10287000" cy="475488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322576"/>
            <a:ext cx="1234440" cy="310896"/>
          </a:xfrm>
          <a:prstGeom prst="roundRect">
            <a:avLst/>
          </a:prstGeom>
          <a:solidFill>
            <a:srgbClr val="16283C"/>
          </a:solidFill>
          <a:ln w="12700">
            <a:solidFill>
              <a:srgbClr val="2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331720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28DCF0"/>
                </a:solidFill>
                <a:latin typeface="Consolas"/>
              </a:rPr>
              <a:t>我提出约束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340864"/>
            <a:ext cx="813816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F1F6FC"/>
                </a:solidFill>
                <a:latin typeface="Microsoft YaHei"/>
              </a:rPr>
              <a:t>“先完整阅读代码，所有功能以真实实现为准。”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898648"/>
            <a:ext cx="10287000" cy="475488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560" y="2980944"/>
            <a:ext cx="1234440" cy="310896"/>
          </a:xfrm>
          <a:prstGeom prst="roundRect">
            <a:avLst/>
          </a:prstGeom>
          <a:solidFill>
            <a:srgbClr val="16283C"/>
          </a:solidFill>
          <a:ln w="12700">
            <a:solidFill>
              <a:srgbClr val="A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990087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AD6FFF"/>
                </a:solidFill>
                <a:latin typeface="Consolas"/>
              </a:rPr>
              <a:t>AI 分析方案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999232"/>
            <a:ext cx="813816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F1F6FC"/>
                </a:solidFill>
                <a:latin typeface="Microsoft YaHei"/>
              </a:rPr>
              <a:t>梳理架构、功能边界、素材与可展示证据。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557016"/>
            <a:ext cx="10287000" cy="475488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51560" y="3639312"/>
            <a:ext cx="1234440" cy="310896"/>
          </a:xfrm>
          <a:prstGeom prst="roundRect">
            <a:avLst/>
          </a:prstGeom>
          <a:solidFill>
            <a:srgbClr val="16283C"/>
          </a:solidFill>
          <a:ln w="12700">
            <a:solidFill>
              <a:srgbClr val="F46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648456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468C6"/>
                </a:solidFill>
                <a:latin typeface="Consolas"/>
              </a:rPr>
              <a:t>我验证并追问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657600"/>
            <a:ext cx="813816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F1F6FC"/>
                </a:solidFill>
                <a:latin typeface="Microsoft YaHei"/>
              </a:rPr>
              <a:t>发现“规划能力”不能写成“已实现”，要求拆分清单。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215384"/>
            <a:ext cx="10287000" cy="475488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51560" y="4297680"/>
            <a:ext cx="1234440" cy="310896"/>
          </a:xfrm>
          <a:prstGeom prst="roundRect">
            <a:avLst/>
          </a:prstGeom>
          <a:solidFill>
            <a:srgbClr val="16283C"/>
          </a:solidFill>
          <a:ln w="12700">
            <a:solidFill>
              <a:srgbClr val="50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306824"/>
            <a:ext cx="123444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50DCAA"/>
                </a:solidFill>
                <a:latin typeface="Consolas"/>
              </a:rPr>
              <a:t>AI 迭代交付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315968"/>
            <a:ext cx="813816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F1F6FC"/>
                </a:solidFill>
                <a:latin typeface="Microsoft YaHei"/>
              </a:rPr>
              <a:t>生成 PPT、核对 PPTX、补充大纲与真实性说明。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257800"/>
            <a:ext cx="105156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9EAEC9"/>
                </a:solidFill>
                <a:latin typeface="Consolas"/>
              </a:rPr>
              <a:t>对话页说明：以上为真实协作过程的结构化摘录；正式展示时可切换到 OpenCode 的原始聊天截图。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"/>
            <a:ext cx="54864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9EAEC9"/>
                </a:solidFill>
                <a:latin typeface="Consolas"/>
              </a:rPr>
              <a:t>AI MANGA TRANSLATOR  / 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22860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9EAEC9"/>
                </a:solidFill>
                <a:latin typeface="Consolas"/>
              </a:rPr>
              <a:t>07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68680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8DCF0"/>
                </a:solidFill>
                <a:latin typeface="Consolas"/>
              </a:rPr>
              <a:t>06 / 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1556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F1F6FC"/>
                </a:solidFill>
                <a:latin typeface="Microsoft YaHei"/>
              </a:rPr>
              <a:t>项目展示：3–4 分钟完成一次闭环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737360"/>
            <a:ext cx="3154680" cy="356616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04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19eca8c467765ba30042abd639840e6.jpg"/>
          <p:cNvPicPr>
            <a:picLocks noChangeAspect="1"/>
          </p:cNvPicPr>
          <p:nvPr/>
        </p:nvPicPr>
        <p:blipFill>
          <a:blip r:embed="rId2"/>
          <a:srcRect l="15224" r="15285"/>
          <a:stretch>
            <a:fillRect/>
          </a:stretch>
        </p:blipFill>
        <p:spPr>
          <a:xfrm>
            <a:off x="713231" y="1810512"/>
            <a:ext cx="3008376" cy="341985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04671" y="1883664"/>
            <a:ext cx="1088136" cy="310896"/>
          </a:xfrm>
          <a:prstGeom prst="roundRect">
            <a:avLst/>
          </a:prstGeom>
          <a:solidFill>
            <a:srgbClr val="16283C"/>
          </a:solidFill>
          <a:ln w="12700">
            <a:solidFill>
              <a:srgbClr val="F46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1892807"/>
            <a:ext cx="1088136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468C6"/>
                </a:solidFill>
                <a:latin typeface="Consolas"/>
              </a:rPr>
              <a:t>输入：日文漫画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737360"/>
            <a:ext cx="3154680" cy="356616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04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屏幕截图 2026-08-31 114913.png"/>
          <p:cNvPicPr>
            <a:picLocks noChangeAspect="1"/>
          </p:cNvPicPr>
          <p:nvPr/>
        </p:nvPicPr>
        <p:blipFill>
          <a:blip r:embed="rId3"/>
          <a:srcRect t="11424" b="11424"/>
          <a:stretch>
            <a:fillRect/>
          </a:stretch>
        </p:blipFill>
        <p:spPr>
          <a:xfrm>
            <a:off x="4599432" y="1810512"/>
            <a:ext cx="3008376" cy="341985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690872" y="1883664"/>
            <a:ext cx="1088136" cy="310896"/>
          </a:xfrm>
          <a:prstGeom prst="roundRect">
            <a:avLst/>
          </a:prstGeom>
          <a:solidFill>
            <a:srgbClr val="16283C"/>
          </a:solidFill>
          <a:ln w="12700">
            <a:solidFill>
              <a:srgbClr val="F46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1892807"/>
            <a:ext cx="1088136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468C6"/>
                </a:solidFill>
                <a:latin typeface="Consolas"/>
              </a:rPr>
              <a:t>输入：英文漫画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737360"/>
            <a:ext cx="3154680" cy="356616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04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屏幕截图 2026-08-31 145655.png"/>
          <p:cNvPicPr>
            <a:picLocks noChangeAspect="1"/>
          </p:cNvPicPr>
          <p:nvPr/>
        </p:nvPicPr>
        <p:blipFill>
          <a:blip r:embed="rId4"/>
          <a:srcRect t="13514" b="13593"/>
          <a:stretch>
            <a:fillRect/>
          </a:stretch>
        </p:blipFill>
        <p:spPr>
          <a:xfrm>
            <a:off x="8485632" y="1810512"/>
            <a:ext cx="3008376" cy="3419856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577072" y="1883664"/>
            <a:ext cx="1088136" cy="310896"/>
          </a:xfrm>
          <a:prstGeom prst="roundRect">
            <a:avLst/>
          </a:prstGeom>
          <a:solidFill>
            <a:srgbClr val="16283C"/>
          </a:solidFill>
          <a:ln w="12700">
            <a:solidFill>
              <a:srgbClr val="F46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7072" y="1892807"/>
            <a:ext cx="1088136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468C6"/>
                </a:solidFill>
                <a:latin typeface="Consolas"/>
              </a:rPr>
              <a:t>输出：中文样例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577840"/>
            <a:ext cx="201168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28DCF0"/>
                </a:solidFill>
                <a:latin typeface="Microsoft YaHei"/>
              </a:rPr>
              <a:t>建议现场演示顺序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577840"/>
            <a:ext cx="859536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F1F6FC"/>
                </a:solidFill>
                <a:latin typeface="Microsoft YaHei"/>
              </a:rPr>
              <a:t>上传 / 粘贴 → 选择语言 → 提交 → 看任务进度 → 预览结果 → 下载或重试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"/>
            <a:ext cx="54864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9EAEC9"/>
                </a:solidFill>
                <a:latin typeface="Consolas"/>
              </a:rPr>
              <a:t>AI MANGA TRANSLATOR  / 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22860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9EAEC9"/>
                </a:solidFill>
                <a:latin typeface="Consolas"/>
              </a:rPr>
              <a:t>08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68680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8DCF0"/>
                </a:solidFill>
                <a:latin typeface="Consolas"/>
              </a:rPr>
              <a:t>07 /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1556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F1F6FC"/>
                </a:solidFill>
                <a:latin typeface="Microsoft YaHei"/>
              </a:rPr>
              <a:t>产品闭环与批量能力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94560"/>
            <a:ext cx="2240280" cy="14173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87168"/>
            <a:ext cx="22402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28DCF0"/>
                </a:solidFill>
                <a:latin typeface="Microsoft YaHei"/>
              </a:rPr>
              <a:t>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17520"/>
            <a:ext cx="19659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F1F6FC"/>
                </a:solidFill>
                <a:latin typeface="Microsoft YaHei"/>
              </a:rPr>
              <a:t>选择、拖入或粘贴图片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7520" y="2907792"/>
            <a:ext cx="393192" cy="0"/>
          </a:xfrm>
          <a:prstGeom prst="line">
            <a:avLst/>
          </a:prstGeom>
          <a:ln w="25400">
            <a:solidFill>
              <a:srgbClr val="5264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20439" y="2194560"/>
            <a:ext cx="2240280" cy="14173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AD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39" y="2487168"/>
            <a:ext cx="22402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AD6FFF"/>
                </a:solidFill>
                <a:latin typeface="Microsoft YaHei"/>
              </a:rPr>
              <a:t>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599" y="3017520"/>
            <a:ext cx="19659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F1F6FC"/>
                </a:solidFill>
                <a:latin typeface="Microsoft YaHei"/>
              </a:rPr>
              <a:t>任务状态与阶段进度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06440" y="2907792"/>
            <a:ext cx="393191" cy="0"/>
          </a:xfrm>
          <a:prstGeom prst="line">
            <a:avLst/>
          </a:prstGeom>
          <a:ln w="25400">
            <a:solidFill>
              <a:srgbClr val="5264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09359" y="2194560"/>
            <a:ext cx="2240280" cy="14173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50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2487168"/>
            <a:ext cx="22402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50DCAA"/>
                </a:solidFill>
                <a:latin typeface="Microsoft YaHei"/>
              </a:rPr>
              <a:t>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017520"/>
            <a:ext cx="19659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F1F6FC"/>
                </a:solidFill>
                <a:latin typeface="Microsoft YaHei"/>
              </a:rPr>
              <a:t>图片预览、下载、重试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95359" y="2907792"/>
            <a:ext cx="393193" cy="0"/>
          </a:xfrm>
          <a:prstGeom prst="line">
            <a:avLst/>
          </a:prstGeom>
          <a:ln w="25400">
            <a:solidFill>
              <a:srgbClr val="5264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98280" y="2194560"/>
            <a:ext cx="2240280" cy="14173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FFB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2487168"/>
            <a:ext cx="22402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B259"/>
                </a:solidFill>
                <a:latin typeface="Microsoft YaHei"/>
              </a:rPr>
              <a:t>批量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017520"/>
            <a:ext cx="19659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F1F6FC"/>
                </a:solidFill>
                <a:latin typeface="Microsoft YaHei"/>
              </a:rPr>
              <a:t>多图任务汇总 + ZIP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434840"/>
            <a:ext cx="4800600" cy="91440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4434840"/>
            <a:ext cx="54864" cy="914400"/>
          </a:xfrm>
          <a:prstGeom prst="rect">
            <a:avLst/>
          </a:prstGeom>
          <a:solidFill>
            <a:srgbClr val="F4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4572000"/>
            <a:ext cx="44348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1F6FC"/>
                </a:solidFill>
                <a:latin typeface="Microsoft YaHei"/>
              </a:rPr>
              <a:t>专有名词管理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4937759"/>
            <a:ext cx="4434840" cy="30175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9EAEC9"/>
                </a:solidFill>
                <a:latin typeface="Microsoft YaHei"/>
              </a:rPr>
              <a:t>独立页面；支持搜索、新增、编辑、删除、JSON 导入。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4434840"/>
            <a:ext cx="4800600" cy="91440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4434840"/>
            <a:ext cx="54864" cy="914400"/>
          </a:xfrm>
          <a:prstGeom prst="rect">
            <a:avLst/>
          </a:prstGeom>
          <a:solidFill>
            <a:srgbClr val="2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47688" y="4572000"/>
            <a:ext cx="44348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1F6FC"/>
                </a:solidFill>
                <a:latin typeface="Microsoft YaHei"/>
              </a:rPr>
              <a:t>录屏建议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7688" y="4937759"/>
            <a:ext cx="4434840" cy="30175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9EAEC9"/>
                </a:solidFill>
                <a:latin typeface="Microsoft YaHei"/>
              </a:rPr>
              <a:t>耗时步骤播放 frontend/public/屏幕录制 2026-09-01 143634.mp4。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"/>
            <a:ext cx="54864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9EAEC9"/>
                </a:solidFill>
                <a:latin typeface="Consolas"/>
              </a:rPr>
              <a:t>AI MANGA TRANSLATOR  / 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22860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9EAEC9"/>
                </a:solidFill>
                <a:latin typeface="Consolas"/>
              </a:rPr>
              <a:t>09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68680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8DCF0"/>
                </a:solidFill>
                <a:latin typeface="Consolas"/>
              </a:rPr>
              <a:t>08 /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1556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F1F6FC"/>
                </a:solidFill>
                <a:latin typeface="Microsoft YaHei"/>
              </a:rPr>
              <a:t>实现边界：用事实回答老师追问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783080"/>
            <a:ext cx="5212080" cy="379476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783080"/>
            <a:ext cx="54864" cy="3794760"/>
          </a:xfrm>
          <a:prstGeom prst="rect">
            <a:avLst/>
          </a:prstGeom>
          <a:solidFill>
            <a:srgbClr val="50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1920240"/>
            <a:ext cx="48463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1F6FC"/>
                </a:solidFill>
                <a:latin typeface="Microsoft YaHei"/>
              </a:rPr>
              <a:t>已实现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286000"/>
            <a:ext cx="4846320" cy="31821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9EAEC9"/>
                </a:solidFill>
                <a:latin typeface="Microsoft YaHei"/>
              </a:rPr>
              <a:t>三语六方向 · 单图/批量任务 · OCR 与语言路由
CV / LaMa 修复 · 气泡分组 · 质量告警
横竖排渲染 · 术语库 · 预览下载 · 失败重试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212080" cy="379476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" cy="3794760"/>
          </a:xfrm>
          <a:prstGeom prst="rect">
            <a:avLst/>
          </a:prstGeom>
          <a:solidFill>
            <a:srgbClr val="AD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1920240"/>
            <a:ext cx="48463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1F6FC"/>
                </a:solidFill>
                <a:latin typeface="Microsoft YaHei"/>
              </a:rPr>
              <a:t>后续规划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286000"/>
            <a:ext cx="4846320" cy="31821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9EAEC9"/>
                </a:solidFill>
                <a:latin typeface="Microsoft YaHei"/>
              </a:rPr>
              <a:t>人工文本框拖拽/缩放/新增
历史任务与章节级可恢复队列
EPUB / CBZ / PDF · 团队协作
云端 GPU · 自动按场景选择修复引擎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806440"/>
            <a:ext cx="102412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28DCF0"/>
                </a:solidFill>
                <a:latin typeface="Microsoft YaHei"/>
              </a:rPr>
              <a:t>回答原则：已经跑通的展示效果讲清楚；尚未完成的功能主动说明边界。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10972" cy="576072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"/>
            <a:ext cx="54864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9EAEC9"/>
                </a:solidFill>
                <a:latin typeface="Consolas"/>
              </a:rPr>
              <a:t>AI MANGA TRANSLATOR  / 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22860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9EAEC9"/>
                </a:solidFill>
                <a:latin typeface="Consolas"/>
              </a:rPr>
              <a:t>10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68680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8DCF0"/>
                </a:solidFill>
                <a:latin typeface="Consolas"/>
              </a:rPr>
              <a:t>09 / 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1556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F1F6FC"/>
                </a:solidFill>
                <a:latin typeface="Microsoft YaHei"/>
              </a:rPr>
              <a:t>总结 / Q&amp;A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292608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28DCF0"/>
                </a:solidFill>
                <a:latin typeface="Microsoft YaHei"/>
              </a:rPr>
              <a:t>自动识别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14600"/>
            <a:ext cx="29260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9EAEC9"/>
                </a:solidFill>
                <a:latin typeface="Microsoft YaHei"/>
              </a:rPr>
              <a:t>结构化文本区域、语言与方向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20240"/>
            <a:ext cx="292608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F468C6"/>
                </a:solidFill>
                <a:latin typeface="Microsoft YaHei"/>
              </a:rPr>
              <a:t>智能翻译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514600"/>
            <a:ext cx="29260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9EAEC9"/>
                </a:solidFill>
                <a:latin typeface="Microsoft YaHei"/>
              </a:rPr>
              <a:t>上下文 + 术语 + 多后端回退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292608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AD6FFF"/>
                </a:solidFill>
                <a:latin typeface="Microsoft YaHei"/>
              </a:rPr>
              <a:t>漫画级重建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14600"/>
            <a:ext cx="29260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9EAEC9"/>
                </a:solidFill>
                <a:latin typeface="Microsoft YaHei"/>
              </a:rPr>
              <a:t>擦除、修复、排版后输出译图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77639"/>
            <a:ext cx="102412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F1F6FC"/>
                </a:solidFill>
                <a:latin typeface="Microsoft YaHei"/>
              </a:rPr>
              <a:t>不是调用一个翻译 API，而是做了一条面向漫画场景的可解释图像处理流水线。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074920"/>
            <a:ext cx="4846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000" b="1">
                <a:solidFill>
                  <a:srgbClr val="28DCF0"/>
                </a:solidFill>
                <a:latin typeface="Consolas"/>
              </a:rPr>
              <a:t>谢谢 /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Manga Translator 软件工程项目答辩</dc:title>
  <dc:subject>7-8分钟项目展示版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